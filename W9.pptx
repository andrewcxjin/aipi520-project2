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1" r:id="rId1"/>
  </p:sldMasterIdLst>
  <p:notesMasterIdLst>
    <p:notesMasterId r:id="rId53"/>
  </p:notesMasterIdLst>
  <p:handoutMasterIdLst>
    <p:handoutMasterId r:id="rId54"/>
  </p:handoutMasterIdLst>
  <p:sldIdLst>
    <p:sldId id="547" r:id="rId2"/>
    <p:sldId id="576" r:id="rId3"/>
    <p:sldId id="514" r:id="rId4"/>
    <p:sldId id="574" r:id="rId5"/>
    <p:sldId id="572" r:id="rId6"/>
    <p:sldId id="578" r:id="rId7"/>
    <p:sldId id="573" r:id="rId8"/>
    <p:sldId id="575" r:id="rId9"/>
    <p:sldId id="577" r:id="rId10"/>
    <p:sldId id="535" r:id="rId11"/>
    <p:sldId id="529" r:id="rId12"/>
    <p:sldId id="530" r:id="rId13"/>
    <p:sldId id="531" r:id="rId14"/>
    <p:sldId id="532" r:id="rId15"/>
    <p:sldId id="534" r:id="rId16"/>
    <p:sldId id="533" r:id="rId17"/>
    <p:sldId id="537" r:id="rId18"/>
    <p:sldId id="544" r:id="rId19"/>
    <p:sldId id="538" r:id="rId20"/>
    <p:sldId id="539" r:id="rId21"/>
    <p:sldId id="528" r:id="rId22"/>
    <p:sldId id="540" r:id="rId23"/>
    <p:sldId id="542" r:id="rId24"/>
    <p:sldId id="551" r:id="rId25"/>
    <p:sldId id="561" r:id="rId26"/>
    <p:sldId id="553" r:id="rId27"/>
    <p:sldId id="527" r:id="rId28"/>
    <p:sldId id="541" r:id="rId29"/>
    <p:sldId id="554" r:id="rId30"/>
    <p:sldId id="545" r:id="rId31"/>
    <p:sldId id="477" r:id="rId32"/>
    <p:sldId id="546" r:id="rId33"/>
    <p:sldId id="524" r:id="rId34"/>
    <p:sldId id="549" r:id="rId35"/>
    <p:sldId id="562" r:id="rId36"/>
    <p:sldId id="563" r:id="rId37"/>
    <p:sldId id="564" r:id="rId38"/>
    <p:sldId id="556" r:id="rId39"/>
    <p:sldId id="555" r:id="rId40"/>
    <p:sldId id="552" r:id="rId41"/>
    <p:sldId id="557" r:id="rId42"/>
    <p:sldId id="558" r:id="rId43"/>
    <p:sldId id="565" r:id="rId44"/>
    <p:sldId id="566" r:id="rId45"/>
    <p:sldId id="567" r:id="rId46"/>
    <p:sldId id="568" r:id="rId47"/>
    <p:sldId id="569" r:id="rId48"/>
    <p:sldId id="570" r:id="rId49"/>
    <p:sldId id="571" r:id="rId50"/>
    <p:sldId id="560" r:id="rId51"/>
    <p:sldId id="559" r:id="rId52"/>
  </p:sldIdLst>
  <p:sldSz cx="9144000" cy="5143500" type="screen16x9"/>
  <p:notesSz cx="7010400" cy="9296400"/>
  <p:embeddedFontLst>
    <p:embeddedFont>
      <p:font typeface="Aptos Narrow" panose="020B0004020202020204" pitchFamily="34" charset="0"/>
      <p:regular r:id="rId55"/>
      <p:bold r:id="rId56"/>
      <p:italic r:id="rId57"/>
      <p:boldItalic r:id="rId58"/>
    </p:embeddedFont>
    <p:embeddedFont>
      <p:font typeface="Cambria Math" panose="02040503050406030204" pitchFamily="18" charset="0"/>
      <p:regular r:id="rId59"/>
    </p:embeddedFont>
    <p:embeddedFont>
      <p:font typeface="Open Sans" panose="020B0606030504020204" pitchFamily="34" charset="0"/>
      <p:regular r:id="rId60"/>
      <p:bold r:id="rId61"/>
      <p:italic r:id="rId62"/>
      <p:boldItalic r:id="rId63"/>
    </p:embeddedFont>
  </p:embeddedFont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 Reifschneider" initials="JR" lastIdx="1" clrIdx="0">
    <p:extLst>
      <p:ext uri="{19B8F6BF-5375-455C-9EA6-DF929625EA0E}">
        <p15:presenceInfo xmlns:p15="http://schemas.microsoft.com/office/powerpoint/2012/main" userId="S::jjr10@duke.edu::adf61fbf-732f-4512-928f-7bd2737fadf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bw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13"/>
    <p:restoredTop sz="96376"/>
  </p:normalViewPr>
  <p:slideViewPr>
    <p:cSldViewPr snapToGrid="0" snapToObjects="1">
      <p:cViewPr varScale="1">
        <p:scale>
          <a:sx n="179" d="100"/>
          <a:sy n="179" d="100"/>
        </p:scale>
        <p:origin x="216" y="21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63" Type="http://schemas.openxmlformats.org/officeDocument/2006/relationships/font" Target="fonts/font9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4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62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99A984-4A80-074F-88D1-7DA5B8EF2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12F1B4-ED44-504A-B219-D6CB7358A0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F75CFD1-423F-6341-B9E6-7F0902AB8C58}" type="datetime1">
              <a:rPr lang="en-US" altLang="en-US"/>
              <a:pPr>
                <a:defRPr/>
              </a:pPr>
              <a:t>10/28/25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B7C091-A977-3646-82B8-4087D2EFD1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EE009-30F0-F04E-AB1E-3DEE7D93AB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D487C64-BAF2-3148-A83E-1853D83860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5D1F0E-1220-9F46-BD67-AE740D2FEE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8C05A-3D33-054F-A2E2-9865B3B386A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91D22EF-D2F6-C042-8C78-98305ECA2FBD}" type="datetime1">
              <a:rPr lang="en-US" altLang="en-US"/>
              <a:pPr>
                <a:defRPr/>
              </a:pPr>
              <a:t>10/28/25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CA60385-C3A2-E743-8F84-CF588485B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FC3C097-4388-5747-AB58-7F79793A4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4066E-C0CE-C047-88E3-615BBBFE71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C7E83-6AF9-0A44-802E-291EF3E6D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17813C2-0D88-2B44-8D66-87A07275F6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7813C2-0D88-2B44-8D66-87A07275F6A6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7295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14C1C88-EB41-0F4B-AAA8-143084A38A3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054D886C-A6B0-1D40-8E9F-DDF4C4693F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398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FCIE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9BC785DC-496B-1E42-B5DC-69821FFDD7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3B8D600D-83A1-BE49-ADB0-3C1521F4A6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48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Sp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833BBE9F-A41D-7241-9E5A-ED29170B91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ADC9F641-F081-5B4B-83CC-6ADAE2B98E4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282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DBC914-62BC-3649-BEB4-BD91CBF055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7D1687-5D3A-B547-974B-AD28DF7757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18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872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EBD51B-ACAB-7042-8D52-94BF5946AC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EC1DF3-8571-FF45-AF26-608241B756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600" b="1" cap="all">
                <a:solidFill>
                  <a:srgbClr val="00558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7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44513F3E-18D7-354A-BA3C-C51343F3F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94096B7-B609-AC41-9C13-3955C73145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1972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1972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599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4D562D98-0CF7-F04F-BAA4-FC79A47000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54FB7BF6-55C6-A644-972F-BF0E1C3192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6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44688"/>
            <a:ext cx="4040188" cy="2436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6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944688"/>
            <a:ext cx="4041775" cy="2436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216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450DDF2E-CCB6-0547-A5BF-367109A385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A99C66E-2C0B-5D47-8CAE-FE9A7CE88E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3418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00FCB922-04CA-B649-8B8C-F47E33B9D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6E25ABF1-BE5E-B742-8B15-EAFE315704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130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EB7A28A-68F2-0348-9FB9-A55D579804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77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BBDB4B-434E-5841-8C55-1F2B080437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27963" y="4133850"/>
            <a:ext cx="8890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60430D-3485-7F49-8822-7405437E5C53}"/>
              </a:ext>
            </a:extLst>
          </p:cNvPr>
          <p:cNvCxnSpPr/>
          <p:nvPr userDrawn="1"/>
        </p:nvCxnSpPr>
        <p:spPr>
          <a:xfrm>
            <a:off x="0" y="309563"/>
            <a:ext cx="9144000" cy="0"/>
          </a:xfrm>
          <a:prstGeom prst="line">
            <a:avLst/>
          </a:prstGeom>
          <a:ln w="38100" cmpd="sng">
            <a:solidFill>
              <a:srgbClr val="E899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34FF0BE-0153-884F-8F35-C766CB9B5152}"/>
              </a:ext>
            </a:extLst>
          </p:cNvPr>
          <p:cNvSpPr/>
          <p:nvPr/>
        </p:nvSpPr>
        <p:spPr>
          <a:xfrm>
            <a:off x="7600950" y="298450"/>
            <a:ext cx="1543050" cy="517525"/>
          </a:xfrm>
          <a:prstGeom prst="rect">
            <a:avLst/>
          </a:prstGeom>
          <a:solidFill>
            <a:srgbClr val="E89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C831686F-FC2A-024E-A406-E0A7481F75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7950" y="403225"/>
            <a:ext cx="974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2"/>
          <p:cNvSpPr>
            <a:spLocks noGrp="1"/>
          </p:cNvSpPr>
          <p:nvPr>
            <p:ph type="title"/>
          </p:nvPr>
        </p:nvSpPr>
        <p:spPr>
          <a:xfrm>
            <a:off x="407722" y="1983028"/>
            <a:ext cx="8328557" cy="1173525"/>
          </a:xfrm>
        </p:spPr>
        <p:txBody>
          <a:bodyPr/>
          <a:lstStyle>
            <a:lvl1pPr algn="ctr">
              <a:defRPr sz="3600" b="1" spc="3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4"/>
          <p:cNvSpPr>
            <a:spLocks noGrp="1"/>
          </p:cNvSpPr>
          <p:nvPr>
            <p:ph sz="quarter" idx="10"/>
          </p:nvPr>
        </p:nvSpPr>
        <p:spPr>
          <a:xfrm>
            <a:off x="427397" y="3631634"/>
            <a:ext cx="7174159" cy="1215084"/>
          </a:xfrm>
        </p:spPr>
        <p:txBody>
          <a:bodyPr anchor="b"/>
          <a:lstStyle>
            <a:lvl1pPr marL="0" indent="0" algn="l">
              <a:buNone/>
              <a:defRPr sz="2100" baseline="0">
                <a:solidFill>
                  <a:schemeClr val="bg1"/>
                </a:solidFill>
              </a:defRPr>
            </a:lvl1pPr>
            <a:lvl2pPr marL="457178" indent="0">
              <a:buNone/>
              <a:defRPr>
                <a:solidFill>
                  <a:schemeClr val="bg1"/>
                </a:solidFill>
              </a:defRPr>
            </a:lvl2pPr>
            <a:lvl3pPr marL="914355" indent="0">
              <a:buNone/>
              <a:defRPr>
                <a:solidFill>
                  <a:schemeClr val="bg1"/>
                </a:solidFill>
              </a:defRPr>
            </a:lvl3pPr>
            <a:lvl4pPr marL="1371532" indent="0">
              <a:buNone/>
              <a:defRPr>
                <a:solidFill>
                  <a:schemeClr val="bg1"/>
                </a:solidFill>
              </a:defRPr>
            </a:lvl4pPr>
            <a:lvl5pPr marL="1828709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548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22E64FD-81FF-D943-AFF5-681142E5B9D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387350"/>
            <a:ext cx="8229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E861207-7373-4344-BED4-311B44BEAA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kern="1200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netflixtechblog.com/netflix-recommendations-beyond-the-5-stars-part-1-55838468f429" TargetMode="Externa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41C8-1372-AB49-A5F4-B9C18388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Models</a:t>
            </a:r>
          </a:p>
        </p:txBody>
      </p:sp>
    </p:spTree>
    <p:extLst>
      <p:ext uri="{BB962C8B-B14F-4D97-AF65-F5344CB8AC3E}">
        <p14:creationId xmlns:p14="http://schemas.microsoft.com/office/powerpoint/2010/main" val="234112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4CCAC-3F65-BC74-0076-3A0954DC2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1609970"/>
            <a:ext cx="7772400" cy="1703754"/>
          </a:xfrm>
        </p:spPr>
        <p:txBody>
          <a:bodyPr/>
          <a:lstStyle/>
          <a:p>
            <a:r>
              <a:rPr lang="en-US" b="0" dirty="0" err="1"/>
              <a:t>classwise.org</a:t>
            </a:r>
            <a:r>
              <a:rPr lang="en-US" b="0" dirty="0"/>
              <a:t>/student/quiz/cba24c75-0686-435b-993c-ff6782542b56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70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EA5C9-EA0C-98C9-24DB-C1AC6DC25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5A12-CC50-6325-9A4C-12178523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310572"/>
            <a:ext cx="7772400" cy="1021556"/>
          </a:xfrm>
        </p:spPr>
        <p:txBody>
          <a:bodyPr/>
          <a:lstStyle/>
          <a:p>
            <a:pPr algn="ctr"/>
            <a:r>
              <a:rPr lang="en-US" dirty="0"/>
              <a:t>Project 2</a:t>
            </a:r>
          </a:p>
        </p:txBody>
      </p:sp>
    </p:spTree>
    <p:extLst>
      <p:ext uri="{BB962C8B-B14F-4D97-AF65-F5344CB8AC3E}">
        <p14:creationId xmlns:p14="http://schemas.microsoft.com/office/powerpoint/2010/main" val="378537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F415C-2789-11A7-C1CA-20D9D36F3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Pharma R&amp;D</a:t>
            </a:r>
          </a:p>
        </p:txBody>
      </p:sp>
      <p:pic>
        <p:nvPicPr>
          <p:cNvPr id="4" name="Google Shape;120;p3">
            <a:extLst>
              <a:ext uri="{FF2B5EF4-FFF2-40B4-BE49-F238E27FC236}">
                <a16:creationId xmlns:a16="http://schemas.microsoft.com/office/drawing/2014/main" id="{D311CAD7-C55F-A777-4189-51ACAE5FC40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4201" y="1063625"/>
            <a:ext cx="5545975" cy="38609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9806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7B50B-5E32-4E37-F582-A549A9E0C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Clinical Trial Outcome Prediction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BA199-98C5-F4BD-0D6C-547F8B39D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298" y="962024"/>
            <a:ext cx="6241969" cy="349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80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D14D9-2C8A-6031-83C4-AC0975864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Clinical Trial Outcome Prediction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10DDC4-49B2-991E-DEE9-4AFBD9C9F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23" y="1063625"/>
            <a:ext cx="3185563" cy="36619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565819-0603-76C3-3E2A-CC51B94BF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111" y="1248019"/>
            <a:ext cx="2719039" cy="3508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9D0861-288A-135B-53DD-1611E078A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0717" y="1248019"/>
            <a:ext cx="2922566" cy="313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45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DF109-CA3E-593C-F2CE-232CF31AF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8985F-57E3-6AA6-8F57-8AFD92589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Objective: develop a model to predict probability of success of a trial</a:t>
            </a:r>
          </a:p>
          <a:p>
            <a:endParaRPr lang="en-US" sz="800" dirty="0"/>
          </a:p>
          <a:p>
            <a:r>
              <a:rPr lang="en-US" sz="1800" dirty="0"/>
              <a:t>Data options:</a:t>
            </a:r>
          </a:p>
          <a:p>
            <a:pPr lvl="1"/>
            <a:r>
              <a:rPr lang="en-US" sz="1400" dirty="0" err="1"/>
              <a:t>ClinicalTrials.gov</a:t>
            </a:r>
            <a:r>
              <a:rPr lang="en-US" sz="1400" dirty="0"/>
              <a:t> API</a:t>
            </a:r>
          </a:p>
          <a:p>
            <a:pPr lvl="1"/>
            <a:r>
              <a:rPr lang="en-US" sz="1400" dirty="0"/>
              <a:t>Download the entire dataset and manage yourself (notebook provided)</a:t>
            </a:r>
          </a:p>
          <a:p>
            <a:endParaRPr lang="en-US" sz="800" dirty="0"/>
          </a:p>
          <a:p>
            <a:r>
              <a:rPr lang="en-US" sz="1800" dirty="0"/>
              <a:t>Labeling:</a:t>
            </a:r>
          </a:p>
          <a:p>
            <a:pPr lvl="1"/>
            <a:r>
              <a:rPr lang="en-US" sz="1400" dirty="0"/>
              <a:t>Use an existing labeled set of trials</a:t>
            </a:r>
          </a:p>
          <a:p>
            <a:pPr lvl="1"/>
            <a:r>
              <a:rPr lang="en-US" sz="1400" dirty="0"/>
              <a:t>Label a set yourself</a:t>
            </a:r>
          </a:p>
          <a:p>
            <a:pPr lvl="1"/>
            <a:endParaRPr lang="en-US" sz="1400" dirty="0"/>
          </a:p>
          <a:p>
            <a:r>
              <a:rPr lang="en-US" sz="1800" dirty="0"/>
              <a:t>Model: any algorithm</a:t>
            </a:r>
          </a:p>
        </p:txBody>
      </p:sp>
    </p:spTree>
    <p:extLst>
      <p:ext uri="{BB962C8B-B14F-4D97-AF65-F5344CB8AC3E}">
        <p14:creationId xmlns:p14="http://schemas.microsoft.com/office/powerpoint/2010/main" val="4033400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08DF9-5E6F-B1BC-1854-9CE9FAF3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4BE9E-0D15-3146-DDFA-AAF82F37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Presentation: Data used, labeling approach, data pipeline, features, models, eval approach, performance</a:t>
            </a:r>
          </a:p>
          <a:p>
            <a:endParaRPr lang="en-US" sz="1800" dirty="0"/>
          </a:p>
          <a:p>
            <a:r>
              <a:rPr lang="en-US" sz="1800" dirty="0"/>
              <a:t>Writeup (2-4 pages): your approach to the problem, how you applied what we learned in class</a:t>
            </a:r>
          </a:p>
          <a:p>
            <a:endParaRPr lang="en-US" sz="1800" dirty="0"/>
          </a:p>
          <a:p>
            <a:r>
              <a:rPr lang="en-US" sz="1800" dirty="0"/>
              <a:t>Code repo</a:t>
            </a:r>
          </a:p>
          <a:p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187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D6147-FE9F-AE18-799A-05984BE7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89F2B6-F400-FBA0-F464-1EFC554ED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662588"/>
              </p:ext>
            </p:extLst>
          </p:nvPr>
        </p:nvGraphicFramePr>
        <p:xfrm>
          <a:off x="777630" y="1694639"/>
          <a:ext cx="7350369" cy="1565724"/>
        </p:xfrm>
        <a:graphic>
          <a:graphicData uri="http://schemas.openxmlformats.org/drawingml/2006/table">
            <a:tbl>
              <a:tblPr/>
              <a:tblGrid>
                <a:gridCol w="799674">
                  <a:extLst>
                    <a:ext uri="{9D8B030D-6E8A-4147-A177-3AD203B41FA5}">
                      <a16:colId xmlns:a16="http://schemas.microsoft.com/office/drawing/2014/main" val="3025121721"/>
                    </a:ext>
                  </a:extLst>
                </a:gridCol>
                <a:gridCol w="1850588">
                  <a:extLst>
                    <a:ext uri="{9D8B030D-6E8A-4147-A177-3AD203B41FA5}">
                      <a16:colId xmlns:a16="http://schemas.microsoft.com/office/drawing/2014/main" val="2859486319"/>
                    </a:ext>
                  </a:extLst>
                </a:gridCol>
                <a:gridCol w="2042876">
                  <a:extLst>
                    <a:ext uri="{9D8B030D-6E8A-4147-A177-3AD203B41FA5}">
                      <a16:colId xmlns:a16="http://schemas.microsoft.com/office/drawing/2014/main" val="1946177145"/>
                    </a:ext>
                  </a:extLst>
                </a:gridCol>
                <a:gridCol w="1352062">
                  <a:extLst>
                    <a:ext uri="{9D8B030D-6E8A-4147-A177-3AD203B41FA5}">
                      <a16:colId xmlns:a16="http://schemas.microsoft.com/office/drawing/2014/main" val="3417816357"/>
                    </a:ext>
                  </a:extLst>
                </a:gridCol>
                <a:gridCol w="1305169">
                  <a:extLst>
                    <a:ext uri="{9D8B030D-6E8A-4147-A177-3AD203B41FA5}">
                      <a16:colId xmlns:a16="http://schemas.microsoft.com/office/drawing/2014/main" val="504397199"/>
                    </a:ext>
                  </a:extLst>
                </a:gridCol>
              </a:tblGrid>
              <a:tr h="1962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Team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Student 1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Student 2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Student 3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Student 4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467476"/>
                  </a:ext>
                </a:extLst>
              </a:tr>
              <a:tr h="1962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Bhargava, Yash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Goel, Mrinal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Mirji, Diya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966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 Oliveira Neves, Jonas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Kallichanda, Sharmil Nanjappa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Tanzillo, Dominic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0807063"/>
                  </a:ext>
                </a:extLst>
              </a:tr>
              <a:tr h="1962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Aher, Jaideep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Jin, Andrew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Zhao, Hanfu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383059"/>
                  </a:ext>
                </a:extLst>
              </a:tr>
              <a:tr h="1962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Degbotse, Tiffany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Mahale, Arnav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Ross, Danny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166260"/>
                  </a:ext>
                </a:extLst>
              </a:tr>
              <a:tr h="1962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Gill, Roshan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Oh, Alex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Zhou, Keming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033992"/>
                  </a:ext>
                </a:extLst>
              </a:tr>
              <a:tr h="1962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Gross, Lindsay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Jog, Atharva Ashish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Packer, Sam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649196"/>
                  </a:ext>
                </a:extLst>
              </a:tr>
              <a:tr h="1962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Guo, Yifei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Mendi, Shreya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Saju, Mike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Sreekanth, Omkar</a:t>
                      </a:r>
                    </a:p>
                  </a:txBody>
                  <a:tcPr marL="9199" marR="9199" marT="919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73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58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805748"/>
            <a:ext cx="8328025" cy="1874575"/>
          </a:xfrm>
        </p:spPr>
        <p:txBody>
          <a:bodyPr/>
          <a:lstStyle/>
          <a:p>
            <a:pPr>
              <a:defRPr/>
            </a:pPr>
            <a:r>
              <a:rPr lang="en-US" dirty="0"/>
              <a:t>Decision Trees for Classification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104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6306-F1D5-974B-B4A0-605AC034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1B322-75F4-7A44-B4C0-8B8535883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4258235" cy="318135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Ask a series of questions to narrow in on the label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5D2A42F-AF56-3844-8EFB-827FA5163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131695"/>
              </p:ext>
            </p:extLst>
          </p:nvPr>
        </p:nvGraphicFramePr>
        <p:xfrm>
          <a:off x="591661" y="2078413"/>
          <a:ext cx="4141695" cy="2145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339">
                  <a:extLst>
                    <a:ext uri="{9D8B030D-6E8A-4147-A177-3AD203B41FA5}">
                      <a16:colId xmlns:a16="http://schemas.microsoft.com/office/drawing/2014/main" val="2011530614"/>
                    </a:ext>
                  </a:extLst>
                </a:gridCol>
                <a:gridCol w="828339">
                  <a:extLst>
                    <a:ext uri="{9D8B030D-6E8A-4147-A177-3AD203B41FA5}">
                      <a16:colId xmlns:a16="http://schemas.microsoft.com/office/drawing/2014/main" val="3922142420"/>
                    </a:ext>
                  </a:extLst>
                </a:gridCol>
                <a:gridCol w="828339">
                  <a:extLst>
                    <a:ext uri="{9D8B030D-6E8A-4147-A177-3AD203B41FA5}">
                      <a16:colId xmlns:a16="http://schemas.microsoft.com/office/drawing/2014/main" val="2297284790"/>
                    </a:ext>
                  </a:extLst>
                </a:gridCol>
                <a:gridCol w="828339">
                  <a:extLst>
                    <a:ext uri="{9D8B030D-6E8A-4147-A177-3AD203B41FA5}">
                      <a16:colId xmlns:a16="http://schemas.microsoft.com/office/drawing/2014/main" val="3292889651"/>
                    </a:ext>
                  </a:extLst>
                </a:gridCol>
                <a:gridCol w="828339">
                  <a:extLst>
                    <a:ext uri="{9D8B030D-6E8A-4147-A177-3AD203B41FA5}">
                      <a16:colId xmlns:a16="http://schemas.microsoft.com/office/drawing/2014/main" val="2918470880"/>
                    </a:ext>
                  </a:extLst>
                </a:gridCol>
              </a:tblGrid>
              <a:tr h="368952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Horns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 Legs</a:t>
                      </a:r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Label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10411364"/>
                  </a:ext>
                </a:extLst>
              </a:tr>
              <a:tr h="444239">
                <a:tc>
                  <a:txBody>
                    <a:bodyPr/>
                    <a:lstStyle/>
                    <a:p>
                      <a:r>
                        <a:rPr lang="en-US" sz="1200" b="1" dirty="0"/>
                        <a:t>Animal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Dog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77951182"/>
                  </a:ext>
                </a:extLst>
              </a:tr>
              <a:tr h="444239">
                <a:tc>
                  <a:txBody>
                    <a:bodyPr/>
                    <a:lstStyle/>
                    <a:p>
                      <a:r>
                        <a:rPr lang="en-US" sz="1200" b="1" dirty="0"/>
                        <a:t>Animal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Lizard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34615738"/>
                  </a:ext>
                </a:extLst>
              </a:tr>
              <a:tr h="444239">
                <a:tc>
                  <a:txBody>
                    <a:bodyPr/>
                    <a:lstStyle/>
                    <a:p>
                      <a:r>
                        <a:rPr lang="en-US" sz="1200" b="1" dirty="0"/>
                        <a:t>Animal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Bird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66102308"/>
                  </a:ext>
                </a:extLst>
              </a:tr>
              <a:tr h="444239">
                <a:tc>
                  <a:txBody>
                    <a:bodyPr/>
                    <a:lstStyle/>
                    <a:p>
                      <a:r>
                        <a:rPr lang="en-US" sz="1200" b="1" dirty="0"/>
                        <a:t>Animal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Moose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01617436"/>
                  </a:ext>
                </a:extLst>
              </a:tr>
            </a:tbl>
          </a:graphicData>
        </a:graphic>
      </p:graphicFrame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BD2AD27-050D-6244-AC7E-BF967FFBF62A}"/>
              </a:ext>
            </a:extLst>
          </p:cNvPr>
          <p:cNvSpPr/>
          <p:nvPr/>
        </p:nvSpPr>
        <p:spPr>
          <a:xfrm>
            <a:off x="6884893" y="841630"/>
            <a:ext cx="995083" cy="4034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Horns?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7A5869C-4F75-D149-8D5F-CA4C5BDECFF4}"/>
              </a:ext>
            </a:extLst>
          </p:cNvPr>
          <p:cNvSpPr/>
          <p:nvPr/>
        </p:nvSpPr>
        <p:spPr>
          <a:xfrm>
            <a:off x="7879976" y="1738503"/>
            <a:ext cx="995083" cy="40341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Moose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A690B38A-C3CB-6C4F-8E57-6ED4F147035F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16200000" flipH="1">
            <a:off x="7633246" y="994230"/>
            <a:ext cx="493461" cy="995083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1322A3-8053-F742-8BB6-5509E0F2C333}"/>
              </a:ext>
            </a:extLst>
          </p:cNvPr>
          <p:cNvSpPr txBox="1"/>
          <p:nvPr/>
        </p:nvSpPr>
        <p:spPr>
          <a:xfrm>
            <a:off x="8001002" y="1215064"/>
            <a:ext cx="4818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Yes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E85E6-58D6-B347-9B0B-56F1D77CD6B5}"/>
              </a:ext>
            </a:extLst>
          </p:cNvPr>
          <p:cNvSpPr txBox="1"/>
          <p:nvPr/>
        </p:nvSpPr>
        <p:spPr>
          <a:xfrm>
            <a:off x="6419848" y="1217677"/>
            <a:ext cx="4818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CE1A1D8-2A4F-5B43-A690-AA9DC1047012}"/>
              </a:ext>
            </a:extLst>
          </p:cNvPr>
          <p:cNvSpPr/>
          <p:nvPr/>
        </p:nvSpPr>
        <p:spPr>
          <a:xfrm>
            <a:off x="6163234" y="1743078"/>
            <a:ext cx="995083" cy="4034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# Legs?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DFE71372-0675-D046-91BA-E345A81294D9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5400000">
            <a:off x="6772588" y="1133231"/>
            <a:ext cx="498036" cy="72165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B583FC6-4FF3-7043-8EA9-9C8C89762CD4}"/>
              </a:ext>
            </a:extLst>
          </p:cNvPr>
          <p:cNvSpPr/>
          <p:nvPr/>
        </p:nvSpPr>
        <p:spPr>
          <a:xfrm>
            <a:off x="5247710" y="2785599"/>
            <a:ext cx="995083" cy="40341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Bird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4C34FCF8-802A-E44E-9CDC-ACE08D2AF03B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rot="5400000">
            <a:off x="5883460" y="2008282"/>
            <a:ext cx="639109" cy="91552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05C7CB5-8EDC-9D48-8A64-34FDFBBA8215}"/>
              </a:ext>
            </a:extLst>
          </p:cNvPr>
          <p:cNvSpPr txBox="1"/>
          <p:nvPr/>
        </p:nvSpPr>
        <p:spPr>
          <a:xfrm>
            <a:off x="5563721" y="2182047"/>
            <a:ext cx="4818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2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4DD02EF-A963-B641-B550-D1A3DDCF72C7}"/>
              </a:ext>
            </a:extLst>
          </p:cNvPr>
          <p:cNvSpPr/>
          <p:nvPr/>
        </p:nvSpPr>
        <p:spPr>
          <a:xfrm>
            <a:off x="6893295" y="2786402"/>
            <a:ext cx="995083" cy="4034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Color?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B03AC591-8966-D04A-B4B7-1C0914E0AB34}"/>
              </a:ext>
            </a:extLst>
          </p:cNvPr>
          <p:cNvCxnSpPr>
            <a:cxnSpLocks/>
            <a:stCxn id="11" idx="2"/>
            <a:endCxn id="22" idx="0"/>
          </p:cNvCxnSpPr>
          <p:nvPr/>
        </p:nvCxnSpPr>
        <p:spPr>
          <a:xfrm rot="16200000" flipH="1">
            <a:off x="6705850" y="2101415"/>
            <a:ext cx="639912" cy="73006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9735CA0-F834-6F48-B5F8-B2781D9E389C}"/>
              </a:ext>
            </a:extLst>
          </p:cNvPr>
          <p:cNvSpPr txBox="1"/>
          <p:nvPr/>
        </p:nvSpPr>
        <p:spPr>
          <a:xfrm>
            <a:off x="7102847" y="2182047"/>
            <a:ext cx="4818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4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E4CC3BF-8087-B941-BBFB-B8C523E090C1}"/>
              </a:ext>
            </a:extLst>
          </p:cNvPr>
          <p:cNvSpPr/>
          <p:nvPr/>
        </p:nvSpPr>
        <p:spPr>
          <a:xfrm>
            <a:off x="5692861" y="3756862"/>
            <a:ext cx="995083" cy="40341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Lizard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7451F90-5CDF-944B-A438-F584C2E7B443}"/>
              </a:ext>
            </a:extLst>
          </p:cNvPr>
          <p:cNvSpPr/>
          <p:nvPr/>
        </p:nvSpPr>
        <p:spPr>
          <a:xfrm>
            <a:off x="7691717" y="3762869"/>
            <a:ext cx="995083" cy="40341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Dog</a:t>
            </a:r>
          </a:p>
        </p:txBody>
      </p: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9B57BC72-B2DA-D04A-85D6-2295FD41724E}"/>
              </a:ext>
            </a:extLst>
          </p:cNvPr>
          <p:cNvCxnSpPr>
            <a:cxnSpLocks/>
            <a:stCxn id="22" idx="2"/>
            <a:endCxn id="27" idx="0"/>
          </p:cNvCxnSpPr>
          <p:nvPr/>
        </p:nvCxnSpPr>
        <p:spPr>
          <a:xfrm rot="5400000">
            <a:off x="6507096" y="2873121"/>
            <a:ext cx="567048" cy="120043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CE41BBFB-29A1-674E-8D63-EFDA3F24F9A3}"/>
              </a:ext>
            </a:extLst>
          </p:cNvPr>
          <p:cNvCxnSpPr>
            <a:cxnSpLocks/>
            <a:stCxn id="22" idx="2"/>
            <a:endCxn id="28" idx="0"/>
          </p:cNvCxnSpPr>
          <p:nvPr/>
        </p:nvCxnSpPr>
        <p:spPr>
          <a:xfrm rot="16200000" flipH="1">
            <a:off x="7503521" y="3077130"/>
            <a:ext cx="573055" cy="79842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1A60F64-00EE-5B4D-873B-8D4D55F65F61}"/>
              </a:ext>
            </a:extLst>
          </p:cNvPr>
          <p:cNvSpPr txBox="1"/>
          <p:nvPr/>
        </p:nvSpPr>
        <p:spPr>
          <a:xfrm>
            <a:off x="6189429" y="3216888"/>
            <a:ext cx="7300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Green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2EADFD-D2C8-1446-8EB2-BAC62191E0B6}"/>
              </a:ext>
            </a:extLst>
          </p:cNvPr>
          <p:cNvSpPr txBox="1"/>
          <p:nvPr/>
        </p:nvSpPr>
        <p:spPr>
          <a:xfrm>
            <a:off x="7602628" y="3216888"/>
            <a:ext cx="7300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Brown</a:t>
            </a:r>
          </a:p>
        </p:txBody>
      </p:sp>
    </p:spTree>
    <p:extLst>
      <p:ext uri="{BB962C8B-B14F-4D97-AF65-F5344CB8AC3E}">
        <p14:creationId xmlns:p14="http://schemas.microsoft.com/office/powerpoint/2010/main" val="2144576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9FF6E-F6B0-6A41-8974-B3D43D3CE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the splits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D16AB-EB02-0A43-A6FA-88E665994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045073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Our goal is to build the most efficient tree – the one that successfully splits the data using the minimum number of splits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We define an objective function to optimize via the decision tree 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Our objective function is to maximize the </a:t>
            </a:r>
            <a:r>
              <a:rPr lang="en-US" sz="1800" b="1" dirty="0"/>
              <a:t>Information Gain (IG) </a:t>
            </a:r>
            <a:r>
              <a:rPr lang="en-US" sz="1800" dirty="0"/>
              <a:t>at each split in the tree: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6B27D4-FE1D-A941-BE83-2406C6BEF533}"/>
                  </a:ext>
                </a:extLst>
              </p:cNvPr>
              <p:cNvSpPr txBox="1"/>
              <p:nvPr/>
            </p:nvSpPr>
            <p:spPr>
              <a:xfrm>
                <a:off x="518407" y="3087981"/>
                <a:ext cx="8258607" cy="71590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IG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𝐷𝑒𝑐𝑟𝑒𝑎𝑠𝑒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𝑖𝑚𝑝𝑢𝑟𝑖𝑡𝑦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𝑎𝑟𝑒𝑛𝑡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𝑙𝑒𝑓𝑡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𝑝𝑎𝑟𝑒𝑛𝑡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𝑙𝑒𝑓𝑡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𝑟𝑖𝑔h𝑡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𝑝𝑎𝑟𝑒𝑛𝑡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𝑟𝑖𝑔h𝑡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6B27D4-FE1D-A941-BE83-2406C6BEF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07" y="3087981"/>
                <a:ext cx="8258607" cy="715902"/>
              </a:xfrm>
              <a:prstGeom prst="rect">
                <a:avLst/>
              </a:prstGeom>
              <a:blipFill>
                <a:blip r:embed="rId2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2E4779-EFC0-F742-803F-68DE127B86A0}"/>
                  </a:ext>
                </a:extLst>
              </p:cNvPr>
              <p:cNvSpPr txBox="1"/>
              <p:nvPr/>
            </p:nvSpPr>
            <p:spPr>
              <a:xfrm>
                <a:off x="1174376" y="4071226"/>
                <a:ext cx="3675530" cy="688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𝑝𝑎𝑟𝑒𝑛𝑡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= impurity at the parent node</a:t>
                </a:r>
              </a:p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𝑙𝑒𝑓𝑡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200" dirty="0"/>
                  <a:t>,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𝑟𝑖𝑔h𝑡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200" dirty="0"/>
                  <a:t> = impurity on left, right</a:t>
                </a:r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2E4779-EFC0-F742-803F-68DE127B8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76" y="4071226"/>
                <a:ext cx="3675530" cy="688907"/>
              </a:xfrm>
              <a:prstGeom prst="rect">
                <a:avLst/>
              </a:prstGeom>
              <a:blipFill>
                <a:blip r:embed="rId3"/>
                <a:stretch>
                  <a:fillRect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6060A9E-D73F-7143-ABFB-3503D11750F8}"/>
                  </a:ext>
                </a:extLst>
              </p:cNvPr>
              <p:cNvSpPr/>
              <p:nvPr/>
            </p:nvSpPr>
            <p:spPr>
              <a:xfrm>
                <a:off x="4465440" y="4071226"/>
                <a:ext cx="2778068" cy="4910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𝑙𝑒𝑓𝑡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𝑟𝑖𝑔h𝑡</m:t>
                        </m:r>
                      </m:sub>
                    </m:sSub>
                  </m:oMath>
                </a14:m>
                <a:r>
                  <a:rPr lang="en-US" sz="1200" dirty="0"/>
                  <a:t> = # examples on left, right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𝑝𝑎𝑟𝑒𝑛𝑡</m:t>
                        </m:r>
                      </m:sub>
                    </m:sSub>
                  </m:oMath>
                </a14:m>
                <a:r>
                  <a:rPr lang="en-US" sz="1200" dirty="0"/>
                  <a:t> = # examples at parent node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6060A9E-D73F-7143-ABFB-3503D11750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440" y="4071226"/>
                <a:ext cx="2778068" cy="491032"/>
              </a:xfrm>
              <a:prstGeom prst="rect">
                <a:avLst/>
              </a:prstGeom>
              <a:blipFill>
                <a:blip r:embed="rId4"/>
                <a:stretch>
                  <a:fillRect t="-250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7014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45BA-34EA-DD4C-BFA9-F26544C60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impurity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7CE5DA7-EBEB-2042-9AFB-645ED12D66E3}"/>
              </a:ext>
            </a:extLst>
          </p:cNvPr>
          <p:cNvSpPr/>
          <p:nvPr/>
        </p:nvSpPr>
        <p:spPr>
          <a:xfrm>
            <a:off x="636494" y="1380565"/>
            <a:ext cx="3442447" cy="4392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Entropy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4ACD171-34ED-FF40-B844-2648EA5DDE31}"/>
              </a:ext>
            </a:extLst>
          </p:cNvPr>
          <p:cNvSpPr/>
          <p:nvPr/>
        </p:nvSpPr>
        <p:spPr>
          <a:xfrm>
            <a:off x="4679576" y="1380565"/>
            <a:ext cx="3442447" cy="43927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Gini Impurity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6C99A9-6CFF-6843-ADEE-BEDD32417D0D}"/>
                  </a:ext>
                </a:extLst>
              </p:cNvPr>
              <p:cNvSpPr txBox="1"/>
              <p:nvPr/>
            </p:nvSpPr>
            <p:spPr>
              <a:xfrm>
                <a:off x="434754" y="1957479"/>
                <a:ext cx="3845925" cy="6973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𝐸𝑛𝑡𝑟𝑜𝑝𝑦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𝑛𝑜𝑑𝑒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6C99A9-6CFF-6843-ADEE-BEDD32417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54" y="1957479"/>
                <a:ext cx="3845925" cy="697307"/>
              </a:xfrm>
              <a:prstGeom prst="rect">
                <a:avLst/>
              </a:prstGeom>
              <a:blipFill>
                <a:blip r:embed="rId2"/>
                <a:stretch>
                  <a:fillRect l="-660" t="-116364" r="-1650" b="-18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D8D0F8D-0837-144F-9ED9-2503911A0A46}"/>
                  </a:ext>
                </a:extLst>
              </p:cNvPr>
              <p:cNvSpPr/>
              <p:nvPr/>
            </p:nvSpPr>
            <p:spPr>
              <a:xfrm>
                <a:off x="725539" y="2792430"/>
                <a:ext cx="3442447" cy="1815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400" dirty="0"/>
                  <a:t> = proportion of examples that belong to class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at node t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For a binary classification: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If all examples at node belong to the same class, entropy = 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If classes are distributed uniformly (50/50), entropy is maximized (1)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D8D0F8D-0837-144F-9ED9-2503911A0A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39" y="2792430"/>
                <a:ext cx="3442447" cy="1815882"/>
              </a:xfrm>
              <a:prstGeom prst="rect">
                <a:avLst/>
              </a:prstGeom>
              <a:blipFill>
                <a:blip r:embed="rId3"/>
                <a:stretch>
                  <a:fillRect l="-735" t="-694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1F548C-7879-AE46-B39E-DD9482B10798}"/>
                  </a:ext>
                </a:extLst>
              </p:cNvPr>
              <p:cNvSpPr txBox="1"/>
              <p:nvPr/>
            </p:nvSpPr>
            <p:spPr>
              <a:xfrm>
                <a:off x="5034816" y="1957479"/>
                <a:ext cx="2731966" cy="6973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𝑛𝑜𝑑𝑒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1F548C-7879-AE46-B39E-DD9482B10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816" y="1957479"/>
                <a:ext cx="2731966" cy="697307"/>
              </a:xfrm>
              <a:prstGeom prst="rect">
                <a:avLst/>
              </a:prstGeom>
              <a:blipFill>
                <a:blip r:embed="rId4"/>
                <a:stretch>
                  <a:fillRect l="-926" t="-116364" b="-18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C16D6A7-0A1B-EE43-9BC1-854552EA16C2}"/>
                  </a:ext>
                </a:extLst>
              </p:cNvPr>
              <p:cNvSpPr/>
              <p:nvPr/>
            </p:nvSpPr>
            <p:spPr>
              <a:xfrm>
                <a:off x="4772708" y="2792430"/>
                <a:ext cx="3442447" cy="1815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400" dirty="0"/>
                  <a:t> = proportion of examples that belong to class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at node t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For a binary classification: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If all examples at node belong to the same class, GI = 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If classes are distributed uniformly (50/50), GI is maximized (0.5)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C16D6A7-0A1B-EE43-9BC1-854552EA16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708" y="2792430"/>
                <a:ext cx="3442447" cy="1815882"/>
              </a:xfrm>
              <a:prstGeom prst="rect">
                <a:avLst/>
              </a:prstGeom>
              <a:blipFill>
                <a:blip r:embed="rId5"/>
                <a:stretch>
                  <a:fillRect l="-366" t="-694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451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E348A-E904-5847-BB80-98A23981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IG using Gini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0E0E2E-4A03-684A-A3A1-47B4053EF779}"/>
              </a:ext>
            </a:extLst>
          </p:cNvPr>
          <p:cNvSpPr/>
          <p:nvPr/>
        </p:nvSpPr>
        <p:spPr>
          <a:xfrm>
            <a:off x="3471148" y="1396728"/>
            <a:ext cx="2087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u="sng" dirty="0"/>
              <a:t>Two possible splitting scenarios: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AB90C7-52D3-BD4B-9AB1-3DC8287B0217}"/>
              </a:ext>
            </a:extLst>
          </p:cNvPr>
          <p:cNvSpPr/>
          <p:nvPr/>
        </p:nvSpPr>
        <p:spPr>
          <a:xfrm>
            <a:off x="1789314" y="1287207"/>
            <a:ext cx="8225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Split A: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424F2-DCE8-804C-A438-14269B68CBE3}"/>
              </a:ext>
            </a:extLst>
          </p:cNvPr>
          <p:cNvSpPr/>
          <p:nvPr/>
        </p:nvSpPr>
        <p:spPr>
          <a:xfrm>
            <a:off x="6230001" y="1287207"/>
            <a:ext cx="8338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Split B: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A838E14-CE27-0B48-9F72-D9BDF08DD7C4}"/>
              </a:ext>
            </a:extLst>
          </p:cNvPr>
          <p:cNvSpPr/>
          <p:nvPr/>
        </p:nvSpPr>
        <p:spPr>
          <a:xfrm>
            <a:off x="1817409" y="1680216"/>
            <a:ext cx="833718" cy="2522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(40,40)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EA2125-3DD9-D946-8FCC-17A6DF293B7E}"/>
              </a:ext>
            </a:extLst>
          </p:cNvPr>
          <p:cNvSpPr/>
          <p:nvPr/>
        </p:nvSpPr>
        <p:spPr>
          <a:xfrm>
            <a:off x="1201086" y="2251717"/>
            <a:ext cx="833718" cy="2522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(30,10)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CAB4408-2FD6-7D4C-9A72-01B4DA608D47}"/>
              </a:ext>
            </a:extLst>
          </p:cNvPr>
          <p:cNvSpPr/>
          <p:nvPr/>
        </p:nvSpPr>
        <p:spPr>
          <a:xfrm>
            <a:off x="2390639" y="2251717"/>
            <a:ext cx="833718" cy="2522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(10,30)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675AB4EC-E052-6A4F-B976-5AAF8D4A58FD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766491" y="1783939"/>
            <a:ext cx="319233" cy="616323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675FC45E-2682-814C-A182-3AA3AE78FCE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16200000" flipH="1">
            <a:off x="2361267" y="1805485"/>
            <a:ext cx="319233" cy="5732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4827171-3B2E-0F41-B490-71C9E8B77A39}"/>
              </a:ext>
            </a:extLst>
          </p:cNvPr>
          <p:cNvSpPr/>
          <p:nvPr/>
        </p:nvSpPr>
        <p:spPr>
          <a:xfrm>
            <a:off x="6222427" y="1680216"/>
            <a:ext cx="833718" cy="2522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(40,40)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53256BD-69F3-304D-B271-BD1C10E34F99}"/>
              </a:ext>
            </a:extLst>
          </p:cNvPr>
          <p:cNvSpPr/>
          <p:nvPr/>
        </p:nvSpPr>
        <p:spPr>
          <a:xfrm>
            <a:off x="5606104" y="2251717"/>
            <a:ext cx="833718" cy="2522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(20,40)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B126192-3313-A04F-A6DE-1DAB6D797492}"/>
              </a:ext>
            </a:extLst>
          </p:cNvPr>
          <p:cNvSpPr/>
          <p:nvPr/>
        </p:nvSpPr>
        <p:spPr>
          <a:xfrm>
            <a:off x="6795657" y="2251717"/>
            <a:ext cx="833718" cy="2522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(20,0)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FB153CF4-85FE-EF4F-BAAE-C6D156027FFB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 rot="5400000">
            <a:off x="6171509" y="1783939"/>
            <a:ext cx="319233" cy="616323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B884DD69-1C3C-E24F-A852-3DD9AAB06C1A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rot="16200000" flipH="1">
            <a:off x="6766285" y="1805485"/>
            <a:ext cx="319233" cy="5732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47E3751-082E-924B-99D2-250BF09BDC38}"/>
                  </a:ext>
                </a:extLst>
              </p:cNvPr>
              <p:cNvSpPr/>
              <p:nvPr/>
            </p:nvSpPr>
            <p:spPr>
              <a:xfrm>
                <a:off x="692395" y="2749869"/>
                <a:ext cx="2848024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𝑝𝑎𝑟𝑒𝑛𝑡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47E3751-082E-924B-99D2-250BF09BDC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95" y="2749869"/>
                <a:ext cx="2848024" cy="276999"/>
              </a:xfrm>
              <a:prstGeom prst="rect">
                <a:avLst/>
              </a:prstGeom>
              <a:blipFill>
                <a:blip r:embed="rId2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07C28F9-D891-A740-BC5A-37CC0172B18A}"/>
                  </a:ext>
                </a:extLst>
              </p:cNvPr>
              <p:cNvSpPr/>
              <p:nvPr/>
            </p:nvSpPr>
            <p:spPr>
              <a:xfrm>
                <a:off x="712897" y="3087284"/>
                <a:ext cx="2975366" cy="10723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𝐺𝑖𝑛𝑖</m:t>
                        </m:r>
                      </m:sub>
                    </m:sSub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𝑙𝑒𝑓𝑡</m:t>
                        </m:r>
                      </m:e>
                    </m:d>
                    <m:r>
                      <a:rPr lang="en-US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00" b="0" i="0" smtClean="0">
                        <a:latin typeface="Cambria Math" panose="02040503050406030204" pitchFamily="18" charset="0"/>
                      </a:rPr>
                      <m:t>1−</m:t>
                    </m:r>
                    <m:d>
                      <m:d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num>
                                  <m:den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b="0" dirty="0"/>
                  <a:t> = 0.375</a:t>
                </a:r>
              </a:p>
              <a:p>
                <a:endParaRPr lang="en-US" sz="12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𝐺𝑖𝑛𝑖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𝑟𝑖𝑔h𝑡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1−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num>
                                  <m:den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200" dirty="0"/>
                  <a:t>=0.375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07C28F9-D891-A740-BC5A-37CC0172B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97" y="3087284"/>
                <a:ext cx="2975366" cy="10723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068F3C0-4557-0C4B-8539-04399C721271}"/>
                  </a:ext>
                </a:extLst>
              </p:cNvPr>
              <p:cNvSpPr txBox="1"/>
              <p:nvPr/>
            </p:nvSpPr>
            <p:spPr>
              <a:xfrm>
                <a:off x="776753" y="4231472"/>
                <a:ext cx="3043269" cy="3468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𝐼𝐺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=0.5−(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∗0.375+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∗0.375)=0.125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068F3C0-4557-0C4B-8539-04399C721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53" y="4231472"/>
                <a:ext cx="3043269" cy="346890"/>
              </a:xfrm>
              <a:prstGeom prst="rect">
                <a:avLst/>
              </a:prstGeom>
              <a:blipFill>
                <a:blip r:embed="rId4"/>
                <a:stretch>
                  <a:fillRect t="-3571" r="-830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CA1068-20D7-1B43-BB51-02F1BB78F765}"/>
                  </a:ext>
                </a:extLst>
              </p:cNvPr>
              <p:cNvSpPr/>
              <p:nvPr/>
            </p:nvSpPr>
            <p:spPr>
              <a:xfrm>
                <a:off x="5131101" y="2689453"/>
                <a:ext cx="2848024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𝑝𝑎𝑟𝑒𝑛𝑡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CA1068-20D7-1B43-BB51-02F1BB78F7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101" y="2689453"/>
                <a:ext cx="2848024" cy="276999"/>
              </a:xfrm>
              <a:prstGeom prst="rect">
                <a:avLst/>
              </a:prstGeom>
              <a:blipFill>
                <a:blip r:embed="rId5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F5024E2-5CEE-3C4F-83F3-B442C3315B21}"/>
                  </a:ext>
                </a:extLst>
              </p:cNvPr>
              <p:cNvSpPr/>
              <p:nvPr/>
            </p:nvSpPr>
            <p:spPr>
              <a:xfrm>
                <a:off x="5131101" y="2939244"/>
                <a:ext cx="2944139" cy="12318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e>
                      </m:d>
                      <m:r>
                        <a:rPr lang="en-US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0" smtClean="0"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num>
                                    <m:den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60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40</m:t>
                                      </m:r>
                                    </m:num>
                                    <m:den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60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100" b="0" i="0" smtClean="0">
                          <a:latin typeface="Cambria Math" panose="02040503050406030204" pitchFamily="18" charset="0"/>
                        </a:rPr>
                        <m:t>=0.</m:t>
                      </m:r>
                      <m:acc>
                        <m:accPr>
                          <m:chr m:val="̅"/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US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𝐺𝑖𝑛𝑖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num>
                                    <m:den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num>
                                    <m:den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F5024E2-5CEE-3C4F-83F3-B442C3315B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101" y="2939244"/>
                <a:ext cx="2944139" cy="12318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861706-FEA4-A349-B026-5F02FF6B7127}"/>
                  </a:ext>
                </a:extLst>
              </p:cNvPr>
              <p:cNvSpPr txBox="1"/>
              <p:nvPr/>
            </p:nvSpPr>
            <p:spPr>
              <a:xfrm>
                <a:off x="5303940" y="4180810"/>
                <a:ext cx="2552750" cy="3468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𝐼𝐺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=0.5−(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̅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∗0)=0.</m:t>
                      </m:r>
                      <m:acc>
                        <m:accPr>
                          <m:chr m:val="̅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861706-FEA4-A349-B026-5F02FF6B7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940" y="4180810"/>
                <a:ext cx="2552750" cy="346890"/>
              </a:xfrm>
              <a:prstGeom prst="rect">
                <a:avLst/>
              </a:prstGeom>
              <a:blipFill>
                <a:blip r:embed="rId7"/>
                <a:stretch>
                  <a:fillRect l="-495" t="-3571" r="-990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0AC58B6D-5C05-774C-838B-6A5ABE69E42B}"/>
              </a:ext>
            </a:extLst>
          </p:cNvPr>
          <p:cNvSpPr/>
          <p:nvPr/>
        </p:nvSpPr>
        <p:spPr>
          <a:xfrm>
            <a:off x="3281456" y="4236933"/>
            <a:ext cx="637009" cy="3468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3DA513E-013C-DB4A-BDE6-5E87F55E6687}"/>
              </a:ext>
            </a:extLst>
          </p:cNvPr>
          <p:cNvSpPr/>
          <p:nvPr/>
        </p:nvSpPr>
        <p:spPr>
          <a:xfrm>
            <a:off x="7430529" y="4180810"/>
            <a:ext cx="637009" cy="3468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7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EE84-170F-474F-BAE8-277631AE6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Getting predictions from the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57A42-03C2-D14B-BC3A-4923213D1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554071" cy="182992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We continue splitting the tree either until we cannot split any further, or we decide to stop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The bottom nodes are called “leaves” of the tree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If a leaf has &gt;1 examples at it, we take the majority class and label all examples at the leaf with that class prediction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F8BB0A-479F-6143-A296-DAA1E996EE70}"/>
              </a:ext>
            </a:extLst>
          </p:cNvPr>
          <p:cNvSpPr/>
          <p:nvPr/>
        </p:nvSpPr>
        <p:spPr>
          <a:xfrm>
            <a:off x="6699950" y="1782703"/>
            <a:ext cx="941809" cy="32624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(4,4)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9F7675-5583-4A43-8F38-EB4FD48015A2}"/>
              </a:ext>
            </a:extLst>
          </p:cNvPr>
          <p:cNvSpPr/>
          <p:nvPr/>
        </p:nvSpPr>
        <p:spPr>
          <a:xfrm>
            <a:off x="6083627" y="2407994"/>
            <a:ext cx="941809" cy="32624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(3,1)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846F04-5050-6040-88C4-3E4B572149AE}"/>
              </a:ext>
            </a:extLst>
          </p:cNvPr>
          <p:cNvSpPr/>
          <p:nvPr/>
        </p:nvSpPr>
        <p:spPr>
          <a:xfrm>
            <a:off x="7273180" y="2407994"/>
            <a:ext cx="941809" cy="32624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(1,3)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0210E3A7-22B4-4C4E-97BB-F18AFD9FCE60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6713170" y="1950308"/>
            <a:ext cx="299049" cy="616323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82CE0F3D-1F33-024A-85AE-B8F132DEE222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7307946" y="1971854"/>
            <a:ext cx="299049" cy="5732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DE0D1A3-AE07-8B4A-9E48-1ADE47A10114}"/>
              </a:ext>
            </a:extLst>
          </p:cNvPr>
          <p:cNvSpPr txBox="1"/>
          <p:nvPr/>
        </p:nvSpPr>
        <p:spPr>
          <a:xfrm>
            <a:off x="6010917" y="2828023"/>
            <a:ext cx="941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Prediction: ”Class A”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0A5977-9715-6848-8EE0-9F0BE4D35B47}"/>
              </a:ext>
            </a:extLst>
          </p:cNvPr>
          <p:cNvSpPr txBox="1"/>
          <p:nvPr/>
        </p:nvSpPr>
        <p:spPr>
          <a:xfrm>
            <a:off x="6627240" y="1447785"/>
            <a:ext cx="1087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(A,B)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2FEB16-359E-3847-867E-E2BA8805E814}"/>
              </a:ext>
            </a:extLst>
          </p:cNvPr>
          <p:cNvSpPr txBox="1"/>
          <p:nvPr/>
        </p:nvSpPr>
        <p:spPr>
          <a:xfrm>
            <a:off x="7328728" y="2828023"/>
            <a:ext cx="941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Prediction: ”Class B”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EDCCF0-033F-6145-855E-CCE910CBCAE1}"/>
              </a:ext>
            </a:extLst>
          </p:cNvPr>
          <p:cNvSpPr txBox="1"/>
          <p:nvPr/>
        </p:nvSpPr>
        <p:spPr>
          <a:xfrm>
            <a:off x="5360997" y="2431586"/>
            <a:ext cx="735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Leaf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68EC3B-37E2-B441-B1D7-6D2A585C71FE}"/>
              </a:ext>
            </a:extLst>
          </p:cNvPr>
          <p:cNvSpPr txBox="1"/>
          <p:nvPr/>
        </p:nvSpPr>
        <p:spPr>
          <a:xfrm>
            <a:off x="8214989" y="2431586"/>
            <a:ext cx="735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Leaf 2</a:t>
            </a:r>
          </a:p>
        </p:txBody>
      </p:sp>
    </p:spTree>
    <p:extLst>
      <p:ext uri="{BB962C8B-B14F-4D97-AF65-F5344CB8AC3E}">
        <p14:creationId xmlns:p14="http://schemas.microsoft.com/office/powerpoint/2010/main" val="3707108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1620A-F130-C944-81EB-D83857C44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B3F29-3EFF-B04C-80B5-5CDD14B0D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6361"/>
            <a:ext cx="8229600" cy="1269999"/>
          </a:xfrm>
        </p:spPr>
        <p:txBody>
          <a:bodyPr/>
          <a:lstStyle/>
          <a:p>
            <a:r>
              <a:rPr lang="en-US" sz="1800" dirty="0"/>
              <a:t>Depth of our tree (max # of splits of a branch) is a hyperparameter</a:t>
            </a:r>
          </a:p>
          <a:p>
            <a:r>
              <a:rPr lang="en-US" sz="1800" dirty="0"/>
              <a:t>Very shallow trees will underfit the data</a:t>
            </a:r>
          </a:p>
          <a:p>
            <a:r>
              <a:rPr lang="en-US" sz="1800" dirty="0"/>
              <a:t>Deep trees will overfit the data (every example ends up as own leaf)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32C509-97A7-E34D-8FE0-4ADEDDFD0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12" y="2579781"/>
            <a:ext cx="3200400" cy="2216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2E2D65-813F-D54C-BFA7-DF0C4721A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509" y="2207906"/>
            <a:ext cx="3715130" cy="14211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5BD704-EF8A-BC43-A4FF-91A82FB4A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629078"/>
            <a:ext cx="3715130" cy="1383618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9D8B0AEC-3D97-7146-8E7B-2B3994E8C1EB}"/>
              </a:ext>
            </a:extLst>
          </p:cNvPr>
          <p:cNvSpPr/>
          <p:nvPr/>
        </p:nvSpPr>
        <p:spPr>
          <a:xfrm>
            <a:off x="3988175" y="2925830"/>
            <a:ext cx="399670" cy="115644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05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A769A-4A56-CB4B-88CD-B25B97087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a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25859-AA45-F840-BD51-21CB5450D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332205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We can use Scikit </a:t>
            </a:r>
            <a:r>
              <a:rPr lang="en-US" sz="1800" dirty="0" err="1"/>
              <a:t>Learn’s</a:t>
            </a:r>
            <a:r>
              <a:rPr lang="en-US" sz="1800" dirty="0"/>
              <a:t> </a:t>
            </a:r>
            <a:r>
              <a:rPr lang="en-US" sz="1800" i="1" dirty="0" err="1"/>
              <a:t>plot_tree</a:t>
            </a:r>
            <a:r>
              <a:rPr lang="en-US" sz="1800" i="1" dirty="0"/>
              <a:t>() </a:t>
            </a:r>
            <a:r>
              <a:rPr lang="en-US" sz="1800" dirty="0"/>
              <a:t>function to visualize the tree model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This shows us the splits, the impurity values, contents of each branch, and the prediction at each node/leaf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DA8D07-48E7-B644-A0B6-8C895290F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090" y="1200151"/>
            <a:ext cx="3780355" cy="338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76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4EEEB-B97F-AE4C-B8E9-69055DC6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C2310-47B8-C94C-80D2-010628EC1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We can also use decision tress for regression</a:t>
            </a:r>
          </a:p>
          <a:p>
            <a:r>
              <a:rPr lang="en-US" sz="1800" dirty="0"/>
              <a:t>Rather than impurity to measure split quality we use MSE of children</a:t>
            </a:r>
          </a:p>
          <a:p>
            <a:r>
              <a:rPr lang="en-US" sz="1800" dirty="0"/>
              <a:t>Rather than taking the majority vote of samples in a leaf, we calculate the mean target value of the samples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F29B137-654C-7149-A0A9-661D51211F71}"/>
              </a:ext>
            </a:extLst>
          </p:cNvPr>
          <p:cNvSpPr/>
          <p:nvPr/>
        </p:nvSpPr>
        <p:spPr>
          <a:xfrm>
            <a:off x="3446702" y="2571750"/>
            <a:ext cx="1517717" cy="3657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Node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24FE989-9D13-C941-B408-6273EBC7E9A3}"/>
              </a:ext>
            </a:extLst>
          </p:cNvPr>
          <p:cNvSpPr/>
          <p:nvPr/>
        </p:nvSpPr>
        <p:spPr>
          <a:xfrm>
            <a:off x="1964564" y="3287486"/>
            <a:ext cx="1580519" cy="3657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Leaf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D0EC46-70AF-1441-AFDD-F5CCB48C3176}"/>
              </a:ext>
            </a:extLst>
          </p:cNvPr>
          <p:cNvSpPr/>
          <p:nvPr/>
        </p:nvSpPr>
        <p:spPr>
          <a:xfrm>
            <a:off x="4734905" y="3287486"/>
            <a:ext cx="1580519" cy="3657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Leaf 2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2A825F8D-F4C6-C640-932C-73EE9BA39EB9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3305210" y="2387134"/>
            <a:ext cx="349967" cy="1450737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1A79A7A9-BE47-9346-AD23-179754329817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4690380" y="2452700"/>
            <a:ext cx="349967" cy="131960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87266E-78CE-6546-B14D-86D0FCABE061}"/>
              </a:ext>
            </a:extLst>
          </p:cNvPr>
          <p:cNvSpPr txBox="1"/>
          <p:nvPr/>
        </p:nvSpPr>
        <p:spPr>
          <a:xfrm>
            <a:off x="1913837" y="3749176"/>
            <a:ext cx="22159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 samples</a:t>
            </a:r>
          </a:p>
          <a:p>
            <a:r>
              <a:rPr lang="en-US" sz="1200" dirty="0"/>
              <a:t>Target values: [5,9,6,8]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FF0000"/>
                </a:solidFill>
              </a:rPr>
              <a:t>Prediction for leaf: (5+9+6+8)/4 = 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5B5A48-95DF-D64A-B9A5-350ED0747C5E}"/>
              </a:ext>
            </a:extLst>
          </p:cNvPr>
          <p:cNvSpPr txBox="1"/>
          <p:nvPr/>
        </p:nvSpPr>
        <p:spPr>
          <a:xfrm>
            <a:off x="4697463" y="3749176"/>
            <a:ext cx="19811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 samples</a:t>
            </a:r>
          </a:p>
          <a:p>
            <a:r>
              <a:rPr lang="en-US" sz="1200" dirty="0"/>
              <a:t>Target values: [4,2,3] 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FF0000"/>
                </a:solidFill>
              </a:rPr>
              <a:t>Prediction for leaf: (4+2+3)/3 = 3</a:t>
            </a:r>
          </a:p>
        </p:txBody>
      </p:sp>
    </p:spTree>
    <p:extLst>
      <p:ext uri="{BB962C8B-B14F-4D97-AF65-F5344CB8AC3E}">
        <p14:creationId xmlns:p14="http://schemas.microsoft.com/office/powerpoint/2010/main" val="1202694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C729E-D9E6-1446-A611-B968DCD4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&amp; challenges of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F3234-D7A6-BE41-9530-1B4EB2354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95" y="2034987"/>
            <a:ext cx="3541058" cy="2355477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Highly interpretable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Train quickly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Handle non-linear relationships well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Do not require scaling or one-hot encoding variables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B50689-0625-C540-90E9-56BE124AC809}"/>
              </a:ext>
            </a:extLst>
          </p:cNvPr>
          <p:cNvSpPr/>
          <p:nvPr/>
        </p:nvSpPr>
        <p:spPr>
          <a:xfrm>
            <a:off x="636494" y="1380565"/>
            <a:ext cx="3442447" cy="4392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Benefits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0D805F1-5E25-E540-A1C3-8744E045BAAF}"/>
              </a:ext>
            </a:extLst>
          </p:cNvPr>
          <p:cNvSpPr/>
          <p:nvPr/>
        </p:nvSpPr>
        <p:spPr>
          <a:xfrm>
            <a:off x="4679576" y="1380565"/>
            <a:ext cx="3442447" cy="43927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Challenges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AFD120-79AA-414C-B45C-E67DF0945358}"/>
              </a:ext>
            </a:extLst>
          </p:cNvPr>
          <p:cNvSpPr txBox="1">
            <a:spLocks/>
          </p:cNvSpPr>
          <p:nvPr/>
        </p:nvSpPr>
        <p:spPr bwMode="auto">
          <a:xfrm>
            <a:off x="4706470" y="2034986"/>
            <a:ext cx="3980329" cy="2355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</a:pPr>
            <a:r>
              <a:rPr lang="en-US" sz="1800" dirty="0"/>
              <a:t>Highly sensitive to hyperparameters (tree depth)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Very prone to overfitting</a:t>
            </a:r>
          </a:p>
        </p:txBody>
      </p:sp>
    </p:spTree>
    <p:extLst>
      <p:ext uri="{BB962C8B-B14F-4D97-AF65-F5344CB8AC3E}">
        <p14:creationId xmlns:p14="http://schemas.microsoft.com/office/powerpoint/2010/main" val="97889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7F6C-04A8-6E40-ACDA-B243549C9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068552"/>
            <a:ext cx="7772400" cy="1021556"/>
          </a:xfrm>
        </p:spPr>
        <p:txBody>
          <a:bodyPr/>
          <a:lstStyle/>
          <a:p>
            <a:pPr algn="ctr"/>
            <a:r>
              <a:rPr lang="en-US" dirty="0"/>
              <a:t>Decision tree Demo</a:t>
            </a:r>
          </a:p>
        </p:txBody>
      </p:sp>
    </p:spTree>
    <p:extLst>
      <p:ext uri="{BB962C8B-B14F-4D97-AF65-F5344CB8AC3E}">
        <p14:creationId xmlns:p14="http://schemas.microsoft.com/office/powerpoint/2010/main" val="287890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805748"/>
            <a:ext cx="8328025" cy="187457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Ensembling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579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3BB54-0816-C34D-AF06-5144805E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Ensembling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D7125-218D-9F49-BAFC-1285F0E93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612724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Goal of </a:t>
            </a:r>
            <a:r>
              <a:rPr lang="en-US" sz="1800" dirty="0" err="1"/>
              <a:t>ensembling</a:t>
            </a:r>
            <a:r>
              <a:rPr lang="en-US" sz="1800" dirty="0"/>
              <a:t> is to combine multiple models together into a meta-model that has better generalization performance than each individual model alone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Averaging multiple models makes the aggregate model less likely to overfit and better at generalizing to new data</a:t>
            </a:r>
          </a:p>
          <a:p>
            <a:pPr lvl="1">
              <a:spcAft>
                <a:spcPts val="400"/>
              </a:spcAft>
            </a:pPr>
            <a:r>
              <a:rPr lang="en-US" sz="1400" b="1" dirty="0"/>
              <a:t>Bias is same </a:t>
            </a:r>
            <a:r>
              <a:rPr lang="en-US" sz="1400" dirty="0"/>
              <a:t>-&gt; bias of average predictions is same as bias of the predictions</a:t>
            </a:r>
          </a:p>
          <a:p>
            <a:pPr lvl="1">
              <a:spcAft>
                <a:spcPts val="400"/>
              </a:spcAft>
            </a:pPr>
            <a:r>
              <a:rPr lang="en-US" sz="1400" b="1" dirty="0"/>
              <a:t>Variance is lower </a:t>
            </a:r>
            <a:r>
              <a:rPr lang="en-US" sz="1400" dirty="0"/>
              <a:t>-&gt; if model outputs are independent (or close), the variance of the average prediction is lower than the variance of the individual model predictions by a factor N  (# of models in ensemble)</a:t>
            </a:r>
          </a:p>
          <a:p>
            <a:pPr>
              <a:spcAft>
                <a:spcPts val="400"/>
              </a:spcAft>
            </a:pP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C8A69-CF56-6944-9E18-AFE462A00981}"/>
                  </a:ext>
                </a:extLst>
              </p:cNvPr>
              <p:cNvSpPr txBox="1"/>
              <p:nvPr/>
            </p:nvSpPr>
            <p:spPr>
              <a:xfrm>
                <a:off x="2329131" y="4023717"/>
                <a:ext cx="1780487" cy="525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C8A69-CF56-6944-9E18-AFE462A00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131" y="4023717"/>
                <a:ext cx="1780487" cy="525785"/>
              </a:xfrm>
              <a:prstGeom prst="rect">
                <a:avLst/>
              </a:prstGeom>
              <a:blipFill>
                <a:blip r:embed="rId2"/>
                <a:stretch>
                  <a:fillRect l="-2128" t="-4651" r="-4255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23FFE61-2918-D740-B40C-6DB1D9DCCAD7}"/>
                  </a:ext>
                </a:extLst>
              </p:cNvPr>
              <p:cNvSpPr/>
              <p:nvPr/>
            </p:nvSpPr>
            <p:spPr>
              <a:xfrm>
                <a:off x="4455194" y="4026282"/>
                <a:ext cx="337169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𝑜𝑢𝑡𝑝𝑢𝑡𝑠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𝑖𝑛𝑑𝑒𝑝𝑒𝑛𝑑𝑒𝑛𝑡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𝑚𝑜𝑑𝑒𝑙𝑠</m:t>
                      </m:r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#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𝑚𝑜𝑑𝑒𝑙𝑠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𝑠𝑎𝑚𝑝𝑙𝑒𝑑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23FFE61-2918-D740-B40C-6DB1D9DCCA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94" y="4026282"/>
                <a:ext cx="3371692" cy="523220"/>
              </a:xfrm>
              <a:prstGeom prst="rect">
                <a:avLst/>
              </a:prstGeom>
              <a:blipFill>
                <a:blip r:embed="rId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899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3BB54-0816-C34D-AF06-5144805E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Ensembling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D7125-218D-9F49-BAFC-1285F0E93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/>
              <a:t>Goal of </a:t>
            </a:r>
            <a:r>
              <a:rPr lang="en-US" sz="1800" dirty="0" err="1"/>
              <a:t>ensembling</a:t>
            </a:r>
            <a:r>
              <a:rPr lang="en-US" sz="1800" dirty="0"/>
              <a:t> is to combine multiple models together into a meta-model that has better generalization performance than each individual model alone</a:t>
            </a:r>
          </a:p>
          <a:p>
            <a:pPr>
              <a:spcAft>
                <a:spcPts val="400"/>
              </a:spcAft>
            </a:pPr>
            <a:endParaRPr lang="en-US" sz="1800" dirty="0"/>
          </a:p>
        </p:txBody>
      </p:sp>
      <p:sp>
        <p:nvSpPr>
          <p:cNvPr id="4" name="Magnetic Disk 3">
            <a:extLst>
              <a:ext uri="{FF2B5EF4-FFF2-40B4-BE49-F238E27FC236}">
                <a16:creationId xmlns:a16="http://schemas.microsoft.com/office/drawing/2014/main" id="{1C4C735F-244E-9146-8B42-97D0B34A0309}"/>
              </a:ext>
            </a:extLst>
          </p:cNvPr>
          <p:cNvSpPr/>
          <p:nvPr/>
        </p:nvSpPr>
        <p:spPr>
          <a:xfrm>
            <a:off x="544527" y="3206933"/>
            <a:ext cx="1543535" cy="1017778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Data</a:t>
            </a:r>
          </a:p>
        </p:txBody>
      </p:sp>
      <p:sp>
        <p:nvSpPr>
          <p:cNvPr id="5" name="Magnetic Disk 4">
            <a:extLst>
              <a:ext uri="{FF2B5EF4-FFF2-40B4-BE49-F238E27FC236}">
                <a16:creationId xmlns:a16="http://schemas.microsoft.com/office/drawing/2014/main" id="{56126B85-D08F-D54A-B7B8-36ECF72BB512}"/>
              </a:ext>
            </a:extLst>
          </p:cNvPr>
          <p:cNvSpPr/>
          <p:nvPr/>
        </p:nvSpPr>
        <p:spPr>
          <a:xfrm>
            <a:off x="2850359" y="2721378"/>
            <a:ext cx="809647" cy="485555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</a:t>
            </a:r>
            <a:r>
              <a:rPr lang="en-US" sz="1600" baseline="-25000" dirty="0"/>
              <a:t>1</a:t>
            </a:r>
          </a:p>
        </p:txBody>
      </p:sp>
      <p:sp>
        <p:nvSpPr>
          <p:cNvPr id="6" name="Magnetic Disk 5">
            <a:extLst>
              <a:ext uri="{FF2B5EF4-FFF2-40B4-BE49-F238E27FC236}">
                <a16:creationId xmlns:a16="http://schemas.microsoft.com/office/drawing/2014/main" id="{673A32EE-C247-014A-9E2C-335CF6E50F8F}"/>
              </a:ext>
            </a:extLst>
          </p:cNvPr>
          <p:cNvSpPr/>
          <p:nvPr/>
        </p:nvSpPr>
        <p:spPr>
          <a:xfrm>
            <a:off x="2850358" y="3318601"/>
            <a:ext cx="809647" cy="485555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</a:t>
            </a:r>
            <a:r>
              <a:rPr lang="en-US" sz="1600" baseline="-25000" dirty="0"/>
              <a:t>2</a:t>
            </a:r>
          </a:p>
        </p:txBody>
      </p:sp>
      <p:sp>
        <p:nvSpPr>
          <p:cNvPr id="7" name="Magnetic Disk 6">
            <a:extLst>
              <a:ext uri="{FF2B5EF4-FFF2-40B4-BE49-F238E27FC236}">
                <a16:creationId xmlns:a16="http://schemas.microsoft.com/office/drawing/2014/main" id="{3C9B9CCD-E24D-9A49-91E7-E5C1EA7C0B93}"/>
              </a:ext>
            </a:extLst>
          </p:cNvPr>
          <p:cNvSpPr/>
          <p:nvPr/>
        </p:nvSpPr>
        <p:spPr>
          <a:xfrm>
            <a:off x="2850357" y="4265212"/>
            <a:ext cx="809647" cy="485555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</a:t>
            </a:r>
            <a:r>
              <a:rPr lang="en-US" sz="1600" baseline="-25000" dirty="0"/>
              <a:t>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E5662C-A487-6D49-9D5D-F619E012CCF3}"/>
              </a:ext>
            </a:extLst>
          </p:cNvPr>
          <p:cNvSpPr txBox="1"/>
          <p:nvPr/>
        </p:nvSpPr>
        <p:spPr>
          <a:xfrm rot="5400000">
            <a:off x="3142641" y="3912571"/>
            <a:ext cx="362391" cy="340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E64903-1E4C-AB4C-89C8-7505D91F87EF}"/>
              </a:ext>
            </a:extLst>
          </p:cNvPr>
          <p:cNvSpPr/>
          <p:nvPr/>
        </p:nvSpPr>
        <p:spPr>
          <a:xfrm>
            <a:off x="4114545" y="2721378"/>
            <a:ext cx="1041648" cy="48555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288" rIns="18288" rtlCol="0" anchor="ctr"/>
          <a:lstStyle/>
          <a:p>
            <a:pPr algn="ctr"/>
            <a:r>
              <a:rPr lang="en-US" sz="1600" dirty="0"/>
              <a:t>Model 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B9BED7-8BB7-234D-BBA6-6AF5E7C3D8C3}"/>
              </a:ext>
            </a:extLst>
          </p:cNvPr>
          <p:cNvSpPr/>
          <p:nvPr/>
        </p:nvSpPr>
        <p:spPr>
          <a:xfrm>
            <a:off x="4114545" y="3318601"/>
            <a:ext cx="1041648" cy="48555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288" rIns="18288" rtlCol="0" anchor="ctr"/>
          <a:lstStyle/>
          <a:p>
            <a:pPr algn="ctr"/>
            <a:r>
              <a:rPr lang="en-US" sz="1600" dirty="0"/>
              <a:t>Model 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83A592-41A8-2D44-B60C-135F57C82F53}"/>
              </a:ext>
            </a:extLst>
          </p:cNvPr>
          <p:cNvSpPr/>
          <p:nvPr/>
        </p:nvSpPr>
        <p:spPr>
          <a:xfrm>
            <a:off x="4114545" y="4263810"/>
            <a:ext cx="1041648" cy="48555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18288" rIns="18288" rtlCol="0" anchor="ctr"/>
          <a:lstStyle/>
          <a:p>
            <a:pPr algn="ctr"/>
            <a:r>
              <a:rPr lang="en-US" sz="1600" dirty="0"/>
              <a:t>Model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CE4DB-9907-8A43-A62C-4B5E3C1F15C3}"/>
              </a:ext>
            </a:extLst>
          </p:cNvPr>
          <p:cNvSpPr txBox="1"/>
          <p:nvPr/>
        </p:nvSpPr>
        <p:spPr>
          <a:xfrm rot="5400000">
            <a:off x="4477848" y="3897189"/>
            <a:ext cx="362391" cy="340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0C18CFFA-4004-0343-8045-62808DACE017}"/>
              </a:ext>
            </a:extLst>
          </p:cNvPr>
          <p:cNvSpPr/>
          <p:nvPr/>
        </p:nvSpPr>
        <p:spPr>
          <a:xfrm>
            <a:off x="3811518" y="2890402"/>
            <a:ext cx="179921" cy="137342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8192A296-AD9C-CF47-B7E3-D49C8045A687}"/>
              </a:ext>
            </a:extLst>
          </p:cNvPr>
          <p:cNvSpPr/>
          <p:nvPr/>
        </p:nvSpPr>
        <p:spPr>
          <a:xfrm>
            <a:off x="3811518" y="3492707"/>
            <a:ext cx="179921" cy="137342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8C9888B4-12C2-C04F-93A7-4145C0EA4B6C}"/>
              </a:ext>
            </a:extLst>
          </p:cNvPr>
          <p:cNvSpPr/>
          <p:nvPr/>
        </p:nvSpPr>
        <p:spPr>
          <a:xfrm>
            <a:off x="3816254" y="4437916"/>
            <a:ext cx="179921" cy="137342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22C489CC-4DE1-0D4A-8CC7-EC0932D5424F}"/>
              </a:ext>
            </a:extLst>
          </p:cNvPr>
          <p:cNvSpPr/>
          <p:nvPr/>
        </p:nvSpPr>
        <p:spPr>
          <a:xfrm rot="19571043">
            <a:off x="2190161" y="3118160"/>
            <a:ext cx="548883" cy="177545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4E63497B-BB68-E144-AB45-B20367FDB6BC}"/>
              </a:ext>
            </a:extLst>
          </p:cNvPr>
          <p:cNvSpPr/>
          <p:nvPr/>
        </p:nvSpPr>
        <p:spPr>
          <a:xfrm>
            <a:off x="2239575" y="3562981"/>
            <a:ext cx="414162" cy="136605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8E8302AE-79D7-9F4A-940F-7ED0FE02B0AC}"/>
              </a:ext>
            </a:extLst>
          </p:cNvPr>
          <p:cNvSpPr/>
          <p:nvPr/>
        </p:nvSpPr>
        <p:spPr>
          <a:xfrm rot="2139230">
            <a:off x="2172214" y="4175038"/>
            <a:ext cx="548883" cy="177545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52973FC-872A-EB49-B1AB-0F1CCBF244A3}"/>
              </a:ext>
            </a:extLst>
          </p:cNvPr>
          <p:cNvSpPr/>
          <p:nvPr/>
        </p:nvSpPr>
        <p:spPr>
          <a:xfrm>
            <a:off x="5846049" y="3318601"/>
            <a:ext cx="1116289" cy="58990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600" dirty="0"/>
              <a:t>Aggregation function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9A1289C1-F76D-764B-A9D9-5E06BE8DA670}"/>
              </a:ext>
            </a:extLst>
          </p:cNvPr>
          <p:cNvSpPr/>
          <p:nvPr/>
        </p:nvSpPr>
        <p:spPr>
          <a:xfrm rot="19571043">
            <a:off x="5230165" y="4056619"/>
            <a:ext cx="548883" cy="177545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996B662C-C721-634A-B378-1DE21CAB713C}"/>
              </a:ext>
            </a:extLst>
          </p:cNvPr>
          <p:cNvSpPr/>
          <p:nvPr/>
        </p:nvSpPr>
        <p:spPr>
          <a:xfrm rot="2139230">
            <a:off x="5226680" y="3013237"/>
            <a:ext cx="548883" cy="177545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A6603FC9-1848-0641-B31C-E06A78A72F02}"/>
              </a:ext>
            </a:extLst>
          </p:cNvPr>
          <p:cNvSpPr/>
          <p:nvPr/>
        </p:nvSpPr>
        <p:spPr>
          <a:xfrm>
            <a:off x="5294040" y="3494679"/>
            <a:ext cx="414162" cy="136605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7F3AEC-E35E-3849-BAF5-EB48C5B0DB31}"/>
              </a:ext>
            </a:extLst>
          </p:cNvPr>
          <p:cNvSpPr txBox="1"/>
          <p:nvPr/>
        </p:nvSpPr>
        <p:spPr>
          <a:xfrm>
            <a:off x="2559040" y="2111090"/>
            <a:ext cx="118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Full dataset or slices of 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B9422F-791B-0049-A597-451125F1B532}"/>
              </a:ext>
            </a:extLst>
          </p:cNvPr>
          <p:cNvSpPr txBox="1"/>
          <p:nvPr/>
        </p:nvSpPr>
        <p:spPr>
          <a:xfrm>
            <a:off x="4148400" y="2105051"/>
            <a:ext cx="1298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Same algorithm or different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9C8534-219E-564C-9864-982033740FDC}"/>
              </a:ext>
            </a:extLst>
          </p:cNvPr>
          <p:cNvSpPr txBox="1"/>
          <p:nvPr/>
        </p:nvSpPr>
        <p:spPr>
          <a:xfrm>
            <a:off x="5903027" y="2604007"/>
            <a:ext cx="1884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Majority vote, simple average, weighted average etc.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19B0C179-8C9D-0246-88B7-263875C69BB1}"/>
              </a:ext>
            </a:extLst>
          </p:cNvPr>
          <p:cNvSpPr/>
          <p:nvPr/>
        </p:nvSpPr>
        <p:spPr>
          <a:xfrm>
            <a:off x="7048689" y="3545140"/>
            <a:ext cx="179921" cy="137342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81734CA-3635-A642-9290-9BD01648CA55}"/>
              </a:ext>
            </a:extLst>
          </p:cNvPr>
          <p:cNvSpPr/>
          <p:nvPr/>
        </p:nvSpPr>
        <p:spPr>
          <a:xfrm>
            <a:off x="7296186" y="3318863"/>
            <a:ext cx="1116290" cy="58990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lang="en-US" sz="1600" dirty="0"/>
              <a:t>Predictions</a:t>
            </a:r>
          </a:p>
        </p:txBody>
      </p:sp>
    </p:spTree>
    <p:extLst>
      <p:ext uri="{BB962C8B-B14F-4D97-AF65-F5344CB8AC3E}">
        <p14:creationId xmlns:p14="http://schemas.microsoft.com/office/powerpoint/2010/main" val="2537250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ky, cloudy, clouds, outdoor&#10;&#10;Description automatically generated">
            <a:extLst>
              <a:ext uri="{FF2B5EF4-FFF2-40B4-BE49-F238E27FC236}">
                <a16:creationId xmlns:a16="http://schemas.microsoft.com/office/drawing/2014/main" id="{DECE46C1-C9B3-8C4E-B349-6B93ED0BF5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43" r="5556"/>
          <a:stretch/>
        </p:blipFill>
        <p:spPr>
          <a:xfrm>
            <a:off x="813817" y="1236584"/>
            <a:ext cx="3200400" cy="2816379"/>
          </a:xfrm>
          <a:prstGeom prst="rect">
            <a:avLst/>
          </a:prstGeom>
        </p:spPr>
      </p:pic>
      <p:pic>
        <p:nvPicPr>
          <p:cNvPr id="3" name="Picture 2" descr="A picture containing sky, outdoor, cloudy, power line&#10;&#10;Description automatically generated">
            <a:extLst>
              <a:ext uri="{FF2B5EF4-FFF2-40B4-BE49-F238E27FC236}">
                <a16:creationId xmlns:a16="http://schemas.microsoft.com/office/drawing/2014/main" id="{E558CB75-86DD-814E-BF9D-309EFC64D6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193" r="5503"/>
          <a:stretch/>
        </p:blipFill>
        <p:spPr>
          <a:xfrm>
            <a:off x="4928616" y="1236584"/>
            <a:ext cx="3136391" cy="281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62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72D84-897D-2042-BE2F-8A21A7057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$1M Netflix Prize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1FBC0A-FF05-E348-8DE1-1022A022481A}"/>
              </a:ext>
            </a:extLst>
          </p:cNvPr>
          <p:cNvSpPr txBox="1"/>
          <p:nvPr/>
        </p:nvSpPr>
        <p:spPr>
          <a:xfrm>
            <a:off x="803563" y="3945319"/>
            <a:ext cx="7536873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”</a:t>
            </a:r>
            <a:r>
              <a:rPr lang="en-US" i="1" dirty="0"/>
              <a:t>We evaluated some of the new methods offline but the additional accuracy gains that we measured did not seem to justify the engineering effort needed to bring them into a production environment.”</a:t>
            </a:r>
          </a:p>
        </p:txBody>
      </p:sp>
      <p:pic>
        <p:nvPicPr>
          <p:cNvPr id="1026" name="Picture 2" descr="Netflix contest">
            <a:extLst>
              <a:ext uri="{FF2B5EF4-FFF2-40B4-BE49-F238E27FC236}">
                <a16:creationId xmlns:a16="http://schemas.microsoft.com/office/drawing/2014/main" id="{2E5FEEAA-EA1B-0943-A502-F7B9F3ABB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152" y="1257777"/>
            <a:ext cx="4294648" cy="2192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C2330E-1DF0-B243-AEE4-A0585EEF3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597215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600" dirty="0"/>
              <a:t>Goal: to decrease RMSE of predicted movie ratings by &gt;10% to under 0.8572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The only 2 teams which achieved the goal both were mergers of teams that used ensemble models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Winning model consisted of 107 models ensembled together</a:t>
            </a:r>
          </a:p>
          <a:p>
            <a:pPr>
              <a:spcAft>
                <a:spcPts val="400"/>
              </a:spcAft>
            </a:pP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7D87F-5A2D-C346-AE1B-E9F251B13A72}"/>
              </a:ext>
            </a:extLst>
          </p:cNvPr>
          <p:cNvSpPr/>
          <p:nvPr/>
        </p:nvSpPr>
        <p:spPr>
          <a:xfrm>
            <a:off x="4833468" y="3480901"/>
            <a:ext cx="3853332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i="1" dirty="0">
                <a:hlinkClick r:id="rId3"/>
              </a:rPr>
              <a:t>https://</a:t>
            </a:r>
            <a:r>
              <a:rPr lang="en-US" sz="700" i="1" dirty="0" err="1">
                <a:hlinkClick r:id="rId3"/>
              </a:rPr>
              <a:t>netflixtechblog.com</a:t>
            </a:r>
            <a:r>
              <a:rPr lang="en-US" sz="700" i="1" dirty="0">
                <a:hlinkClick r:id="rId3"/>
              </a:rPr>
              <a:t>/netflix-recommendations-beyond-the-5-stars-part-1-55838468f429</a:t>
            </a:r>
            <a:endParaRPr lang="en-US" sz="700" i="1" dirty="0"/>
          </a:p>
        </p:txBody>
      </p:sp>
    </p:spTree>
    <p:extLst>
      <p:ext uri="{BB962C8B-B14F-4D97-AF65-F5344CB8AC3E}">
        <p14:creationId xmlns:p14="http://schemas.microsoft.com/office/powerpoint/2010/main" val="3922766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952DE-35D9-9B48-9B38-8F5567082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ensemble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D761C-CC56-5D40-B88C-60F271B43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7187"/>
            <a:ext cx="7079941" cy="3044314"/>
          </a:xfrm>
        </p:spPr>
        <p:txBody>
          <a:bodyPr/>
          <a:lstStyle/>
          <a:p>
            <a:r>
              <a:rPr lang="en-US" sz="2000" dirty="0"/>
              <a:t>Time and compute resources to train</a:t>
            </a:r>
          </a:p>
          <a:p>
            <a:endParaRPr lang="en-US" sz="1600" dirty="0"/>
          </a:p>
          <a:p>
            <a:r>
              <a:rPr lang="en-US" sz="2000" dirty="0"/>
              <a:t>Computational cost of running multiple models</a:t>
            </a:r>
          </a:p>
          <a:p>
            <a:endParaRPr lang="en-US" sz="1600" dirty="0"/>
          </a:p>
          <a:p>
            <a:r>
              <a:rPr lang="en-US" sz="2000" dirty="0"/>
              <a:t>Decrease in interpretability</a:t>
            </a:r>
          </a:p>
        </p:txBody>
      </p:sp>
    </p:spTree>
    <p:extLst>
      <p:ext uri="{BB962C8B-B14F-4D97-AF65-F5344CB8AC3E}">
        <p14:creationId xmlns:p14="http://schemas.microsoft.com/office/powerpoint/2010/main" val="1315252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805748"/>
            <a:ext cx="8328025" cy="1874575"/>
          </a:xfrm>
        </p:spPr>
        <p:txBody>
          <a:bodyPr/>
          <a:lstStyle/>
          <a:p>
            <a:pPr>
              <a:defRPr/>
            </a:pPr>
            <a:r>
              <a:rPr lang="en-US" dirty="0"/>
              <a:t>Random Forest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2774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2E7F7-BA7B-0746-BE34-0DF7D6A35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Bootstrap aggregating (bagging)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9ED34-8AFB-1F4C-AC1C-0ACC7EC60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In bagging, we use “bootstrapped” samples from the training dataset to train each model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Bootstrapping = sampling with replacement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We select the size of each bagging subset (usually as a % of total training)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Therefore, there are some duplicates and some points left out entirely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Because each model is trained on a different set of data, their output predictions can be considered close to independent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Thus, when we use the average of their predictions we reduce the variance</a:t>
            </a:r>
          </a:p>
        </p:txBody>
      </p:sp>
    </p:spTree>
    <p:extLst>
      <p:ext uri="{BB962C8B-B14F-4D97-AF65-F5344CB8AC3E}">
        <p14:creationId xmlns:p14="http://schemas.microsoft.com/office/powerpoint/2010/main" val="1139018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DDB1A-F844-FC49-8E33-B61D21E56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tree to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C82F8-A29A-DB46-A778-2CD88616D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736551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Decision trees tend to overfit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We can grow several trees and take the majority vote 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We use bagging to ensure each tree is trained on a different subset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To predict on new data, we take the majority vote / simple average</a:t>
            </a:r>
          </a:p>
          <a:p>
            <a:pPr>
              <a:spcAft>
                <a:spcPts val="400"/>
              </a:spcAft>
            </a:pPr>
            <a:endParaRPr lang="en-US" sz="1800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0C42EA8-0E56-5145-ADDA-109983B41017}"/>
              </a:ext>
            </a:extLst>
          </p:cNvPr>
          <p:cNvGraphicFramePr>
            <a:graphicFrameLocks noGrp="1"/>
          </p:cNvGraphicFramePr>
          <p:nvPr/>
        </p:nvGraphicFramePr>
        <p:xfrm>
          <a:off x="4379976" y="2052401"/>
          <a:ext cx="1101215" cy="1506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43">
                  <a:extLst>
                    <a:ext uri="{9D8B030D-6E8A-4147-A177-3AD203B41FA5}">
                      <a16:colId xmlns:a16="http://schemas.microsoft.com/office/drawing/2014/main" val="3282616730"/>
                    </a:ext>
                  </a:extLst>
                </a:gridCol>
                <a:gridCol w="220243">
                  <a:extLst>
                    <a:ext uri="{9D8B030D-6E8A-4147-A177-3AD203B41FA5}">
                      <a16:colId xmlns:a16="http://schemas.microsoft.com/office/drawing/2014/main" val="3891057310"/>
                    </a:ext>
                  </a:extLst>
                </a:gridCol>
                <a:gridCol w="220243">
                  <a:extLst>
                    <a:ext uri="{9D8B030D-6E8A-4147-A177-3AD203B41FA5}">
                      <a16:colId xmlns:a16="http://schemas.microsoft.com/office/drawing/2014/main" val="1857302803"/>
                    </a:ext>
                  </a:extLst>
                </a:gridCol>
                <a:gridCol w="220243">
                  <a:extLst>
                    <a:ext uri="{9D8B030D-6E8A-4147-A177-3AD203B41FA5}">
                      <a16:colId xmlns:a16="http://schemas.microsoft.com/office/drawing/2014/main" val="2399472372"/>
                    </a:ext>
                  </a:extLst>
                </a:gridCol>
                <a:gridCol w="220243">
                  <a:extLst>
                    <a:ext uri="{9D8B030D-6E8A-4147-A177-3AD203B41FA5}">
                      <a16:colId xmlns:a16="http://schemas.microsoft.com/office/drawing/2014/main" val="3887273365"/>
                    </a:ext>
                  </a:extLst>
                </a:gridCol>
              </a:tblGrid>
              <a:tr h="301277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761014"/>
                  </a:ext>
                </a:extLst>
              </a:tr>
              <a:tr h="301277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324455"/>
                  </a:ext>
                </a:extLst>
              </a:tr>
              <a:tr h="301277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38598"/>
                  </a:ext>
                </a:extLst>
              </a:tr>
              <a:tr h="301277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358925"/>
                  </a:ext>
                </a:extLst>
              </a:tr>
              <a:tr h="301277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166209"/>
                  </a:ext>
                </a:extLst>
              </a:tr>
            </a:tbl>
          </a:graphicData>
        </a:graphic>
      </p:graphicFrame>
      <p:sp>
        <p:nvSpPr>
          <p:cNvPr id="8" name="Magnetic Disk 7">
            <a:extLst>
              <a:ext uri="{FF2B5EF4-FFF2-40B4-BE49-F238E27FC236}">
                <a16:creationId xmlns:a16="http://schemas.microsoft.com/office/drawing/2014/main" id="{BB0A9EA8-7F29-2642-8F98-D747C5E9D16F}"/>
              </a:ext>
            </a:extLst>
          </p:cNvPr>
          <p:cNvSpPr/>
          <p:nvPr/>
        </p:nvSpPr>
        <p:spPr>
          <a:xfrm>
            <a:off x="5720990" y="1856287"/>
            <a:ext cx="683049" cy="485555"/>
          </a:xfrm>
          <a:prstGeom prst="flowChartMagneticDisk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</a:t>
            </a:r>
            <a:r>
              <a:rPr lang="en-US" sz="1600" baseline="-25000" dirty="0"/>
              <a:t>1</a:t>
            </a:r>
          </a:p>
        </p:txBody>
      </p:sp>
      <p:sp>
        <p:nvSpPr>
          <p:cNvPr id="9" name="Magnetic Disk 8">
            <a:extLst>
              <a:ext uri="{FF2B5EF4-FFF2-40B4-BE49-F238E27FC236}">
                <a16:creationId xmlns:a16="http://schemas.microsoft.com/office/drawing/2014/main" id="{419BCC03-9F7C-6C46-A980-880A337660F2}"/>
              </a:ext>
            </a:extLst>
          </p:cNvPr>
          <p:cNvSpPr/>
          <p:nvPr/>
        </p:nvSpPr>
        <p:spPr>
          <a:xfrm>
            <a:off x="5754224" y="3081759"/>
            <a:ext cx="683049" cy="485555"/>
          </a:xfrm>
          <a:prstGeom prst="flowChartMagneticDisk">
            <a:avLst/>
          </a:prstGeom>
          <a:solidFill>
            <a:schemeClr val="accent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</a:t>
            </a:r>
            <a:r>
              <a:rPr lang="en-US" sz="1600" baseline="-25000" dirty="0"/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41BCCD-F5FF-3B4D-A121-090B11BB0700}"/>
              </a:ext>
            </a:extLst>
          </p:cNvPr>
          <p:cNvSpPr/>
          <p:nvPr/>
        </p:nvSpPr>
        <p:spPr>
          <a:xfrm>
            <a:off x="4466359" y="2181901"/>
            <a:ext cx="533050" cy="796724"/>
          </a:xfrm>
          <a:prstGeom prst="rect">
            <a:avLst/>
          </a:prstGeom>
          <a:solidFill>
            <a:schemeClr val="accent2">
              <a:alpha val="54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0B6188-4B4F-AA40-A56C-B03745FE1C03}"/>
              </a:ext>
            </a:extLst>
          </p:cNvPr>
          <p:cNvSpPr/>
          <p:nvPr/>
        </p:nvSpPr>
        <p:spPr>
          <a:xfrm>
            <a:off x="4800575" y="2580079"/>
            <a:ext cx="533050" cy="796724"/>
          </a:xfrm>
          <a:prstGeom prst="rect">
            <a:avLst/>
          </a:prstGeom>
          <a:solidFill>
            <a:schemeClr val="accent5">
              <a:alpha val="51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64363C-2D4D-BF46-9D97-8954FAD6696B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4930583" y="2099065"/>
            <a:ext cx="790407" cy="29050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4BA3FF7-BB8E-E14C-AF2F-9F374B67C91A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5274146" y="3129485"/>
            <a:ext cx="480078" cy="19505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Deciduous tree with solid fill">
            <a:extLst>
              <a:ext uri="{FF2B5EF4-FFF2-40B4-BE49-F238E27FC236}">
                <a16:creationId xmlns:a16="http://schemas.microsoft.com/office/drawing/2014/main" id="{4DB2298E-6ADD-7046-9430-6816168AE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1080" y="1695484"/>
            <a:ext cx="743895" cy="743895"/>
          </a:xfrm>
          <a:prstGeom prst="rect">
            <a:avLst/>
          </a:prstGeom>
        </p:spPr>
      </p:pic>
      <p:pic>
        <p:nvPicPr>
          <p:cNvPr id="27" name="Graphic 26" descr="Deciduous tree with solid fill">
            <a:extLst>
              <a:ext uri="{FF2B5EF4-FFF2-40B4-BE49-F238E27FC236}">
                <a16:creationId xmlns:a16="http://schemas.microsoft.com/office/drawing/2014/main" id="{E22848D6-5E1E-9242-A25D-E5E7738DC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1080" y="2978441"/>
            <a:ext cx="743895" cy="74389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94BBEA1-8792-6942-90EC-87787B72CA21}"/>
              </a:ext>
            </a:extLst>
          </p:cNvPr>
          <p:cNvSpPr txBox="1"/>
          <p:nvPr/>
        </p:nvSpPr>
        <p:spPr>
          <a:xfrm>
            <a:off x="6688726" y="1445176"/>
            <a:ext cx="8866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Tree 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90A8EB-51EF-AF49-815B-D18BDEF31ECB}"/>
              </a:ext>
            </a:extLst>
          </p:cNvPr>
          <p:cNvSpPr txBox="1"/>
          <p:nvPr/>
        </p:nvSpPr>
        <p:spPr>
          <a:xfrm>
            <a:off x="6688726" y="2733040"/>
            <a:ext cx="8866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Tree 2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1244BC89-B537-0840-85B1-0546FAC5032F}"/>
              </a:ext>
            </a:extLst>
          </p:cNvPr>
          <p:cNvSpPr/>
          <p:nvPr/>
        </p:nvSpPr>
        <p:spPr>
          <a:xfrm>
            <a:off x="6521281" y="2003106"/>
            <a:ext cx="181246" cy="191915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3B16A36D-9D2E-494D-A61A-28076A64F5A2}"/>
              </a:ext>
            </a:extLst>
          </p:cNvPr>
          <p:cNvSpPr/>
          <p:nvPr/>
        </p:nvSpPr>
        <p:spPr>
          <a:xfrm>
            <a:off x="6540826" y="3254430"/>
            <a:ext cx="181246" cy="191915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E8F7997-16BD-414B-AEFD-DDF9AA101EFF}"/>
              </a:ext>
            </a:extLst>
          </p:cNvPr>
          <p:cNvSpPr/>
          <p:nvPr/>
        </p:nvSpPr>
        <p:spPr>
          <a:xfrm>
            <a:off x="7650480" y="2439379"/>
            <a:ext cx="804672" cy="53906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Average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697548C4-8F39-E74E-9C12-F7C871D58181}"/>
              </a:ext>
            </a:extLst>
          </p:cNvPr>
          <p:cNvSpPr/>
          <p:nvPr/>
        </p:nvSpPr>
        <p:spPr>
          <a:xfrm rot="2737794">
            <a:off x="7423409" y="2220493"/>
            <a:ext cx="181246" cy="191915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35060750-3439-3349-AAF3-181BFEBD9BDA}"/>
              </a:ext>
            </a:extLst>
          </p:cNvPr>
          <p:cNvSpPr/>
          <p:nvPr/>
        </p:nvSpPr>
        <p:spPr>
          <a:xfrm rot="18932235">
            <a:off x="7453360" y="3026511"/>
            <a:ext cx="181246" cy="191915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18A652-B091-BC44-99FA-4C60CB564F5D}"/>
              </a:ext>
            </a:extLst>
          </p:cNvPr>
          <p:cNvSpPr txBox="1"/>
          <p:nvPr/>
        </p:nvSpPr>
        <p:spPr>
          <a:xfrm>
            <a:off x="4430984" y="1742810"/>
            <a:ext cx="8866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89760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53166-E534-E74E-8167-803256AD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RF 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B9510-5AB8-0743-A6BA-B1A7FD8DE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/>
              <a:t>Random Forests require tuning of several hyperparameters:</a:t>
            </a:r>
          </a:p>
          <a:p>
            <a:pPr>
              <a:spcAft>
                <a:spcPts val="400"/>
              </a:spcAft>
              <a:buFont typeface="+mj-lt"/>
              <a:buAutoNum type="arabicPeriod"/>
            </a:pPr>
            <a:r>
              <a:rPr lang="en-US" sz="1800" b="1" dirty="0"/>
              <a:t>Number of trees</a:t>
            </a:r>
            <a:r>
              <a:rPr lang="en-US" sz="1800" dirty="0"/>
              <a:t> in the forest (default = 100)</a:t>
            </a:r>
          </a:p>
          <a:p>
            <a:pPr>
              <a:spcAft>
                <a:spcPts val="400"/>
              </a:spcAft>
              <a:buFont typeface="+mj-lt"/>
              <a:buAutoNum type="arabicPeriod"/>
            </a:pPr>
            <a:r>
              <a:rPr lang="en-US" sz="1800" b="1" dirty="0"/>
              <a:t>Sampling strategy </a:t>
            </a:r>
            <a:r>
              <a:rPr lang="en-US" sz="1800" dirty="0"/>
              <a:t>for bagging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Bagging sample size as % of total rows in training set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Max % of features represented in each bagging sample</a:t>
            </a:r>
          </a:p>
          <a:p>
            <a:pPr>
              <a:spcAft>
                <a:spcPts val="400"/>
              </a:spcAft>
              <a:buFont typeface="+mj-lt"/>
              <a:buAutoNum type="arabicPeriod"/>
            </a:pPr>
            <a:r>
              <a:rPr lang="en-US" sz="1800" b="1" dirty="0"/>
              <a:t>Depth of trees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Max depth (</a:t>
            </a:r>
            <a:r>
              <a:rPr lang="en-US" sz="1600" dirty="0" err="1"/>
              <a:t>max_depth</a:t>
            </a:r>
            <a:r>
              <a:rPr lang="en-US" sz="1600" dirty="0"/>
              <a:t>)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Minimum samples per leaf (</a:t>
            </a:r>
            <a:r>
              <a:rPr lang="en-US" sz="1600" dirty="0" err="1"/>
              <a:t>min_samples_leaf</a:t>
            </a:r>
            <a:r>
              <a:rPr lang="en-US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025034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C99B-CEE4-AE45-B650-C60C9CB6C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 using RF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E5106A9-5162-614B-9F19-CBF261DC933C}"/>
              </a:ext>
            </a:extLst>
          </p:cNvPr>
          <p:cNvGraphicFramePr>
            <a:graphicFrameLocks noGrp="1"/>
          </p:cNvGraphicFramePr>
          <p:nvPr/>
        </p:nvGraphicFramePr>
        <p:xfrm>
          <a:off x="665480" y="1281430"/>
          <a:ext cx="7813040" cy="3524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>
                  <a:extLst>
                    <a:ext uri="{9D8B030D-6E8A-4147-A177-3AD203B41FA5}">
                      <a16:colId xmlns:a16="http://schemas.microsoft.com/office/drawing/2014/main" val="25478879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894477226"/>
                    </a:ext>
                  </a:extLst>
                </a:gridCol>
                <a:gridCol w="2213644">
                  <a:extLst>
                    <a:ext uri="{9D8B030D-6E8A-4147-A177-3AD203B41FA5}">
                      <a16:colId xmlns:a16="http://schemas.microsoft.com/office/drawing/2014/main" val="190901973"/>
                    </a:ext>
                  </a:extLst>
                </a:gridCol>
                <a:gridCol w="2007836">
                  <a:extLst>
                    <a:ext uri="{9D8B030D-6E8A-4147-A177-3AD203B41FA5}">
                      <a16:colId xmlns:a16="http://schemas.microsoft.com/office/drawing/2014/main" val="430510570"/>
                    </a:ext>
                  </a:extLst>
                </a:gridCol>
              </a:tblGrid>
              <a:tr h="65913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Filter </a:t>
                      </a:r>
                    </a:p>
                    <a:p>
                      <a:pPr algn="ctr"/>
                      <a:r>
                        <a:rPr lang="en-US" sz="1600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Wrapper </a:t>
                      </a:r>
                    </a:p>
                    <a:p>
                      <a:pPr algn="ctr"/>
                      <a:r>
                        <a:rPr lang="en-US" sz="1600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Embedded </a:t>
                      </a:r>
                    </a:p>
                    <a:p>
                      <a:pPr algn="ctr"/>
                      <a:r>
                        <a:rPr lang="en-US" sz="1600" dirty="0"/>
                        <a:t>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87867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Univariate methods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Information gain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Correlation matrix</a:t>
                      </a: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Forward selection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Backward elimination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Recursive feature elimination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Regularization methods (LASSO)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Random Forest  feature importance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972933"/>
                  </a:ext>
                </a:extLst>
              </a:tr>
              <a:tr h="121270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Rely on characteristics of the data – do not use a model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Computationally inexpensive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Use before modeling as screen to remove irrelevant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Train model on subsets of features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Computationally very expensive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Often unfeasible for real-world 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Can be run while training a model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Extracts features which contribute most to training of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949577"/>
                  </a:ext>
                </a:extLst>
              </a:tr>
            </a:tbl>
          </a:graphicData>
        </a:graphic>
      </p:graphicFrame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21A906D-6288-7E49-B57C-61E20AAD1B1C}"/>
              </a:ext>
            </a:extLst>
          </p:cNvPr>
          <p:cNvSpPr/>
          <p:nvPr/>
        </p:nvSpPr>
        <p:spPr>
          <a:xfrm>
            <a:off x="6452796" y="1174115"/>
            <a:ext cx="2025724" cy="373888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59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0F1E-F8A7-A34D-83D9-27E4C77FB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733DC-C0F1-3E44-BB3F-4197FD1BB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4195485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We can calculate the relative importance of each feature using the random forest’s </a:t>
            </a:r>
            <a:r>
              <a:rPr lang="en-US" sz="1800" i="1" dirty="0" err="1"/>
              <a:t>model.feature_importances</a:t>
            </a:r>
            <a:r>
              <a:rPr lang="en-US" sz="1800" i="1" dirty="0"/>
              <a:t>_ </a:t>
            </a:r>
            <a:r>
              <a:rPr lang="en-US" sz="1800" dirty="0"/>
              <a:t>attribute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“Feature importance” is calculated by looking at how much the nodes that use each feature reduce </a:t>
            </a:r>
            <a:r>
              <a:rPr lang="en-US" sz="1800" dirty="0" err="1"/>
              <a:t>gini</a:t>
            </a:r>
            <a:r>
              <a:rPr lang="en-US" sz="1800" dirty="0"/>
              <a:t> impurity on average (across each tree and then all trees in the forest), weighted by number of samples at node</a:t>
            </a:r>
          </a:p>
          <a:p>
            <a:pPr>
              <a:spcAft>
                <a:spcPts val="400"/>
              </a:spcAft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1870DF-9E93-1B49-810B-662A49A34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684" y="1200151"/>
            <a:ext cx="4252419" cy="228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617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7F6C-04A8-6E40-ACDA-B243549C9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068552"/>
            <a:ext cx="7772400" cy="1021556"/>
          </a:xfrm>
        </p:spPr>
        <p:txBody>
          <a:bodyPr/>
          <a:lstStyle/>
          <a:p>
            <a:pPr algn="ctr"/>
            <a:r>
              <a:rPr lang="en-US" dirty="0"/>
              <a:t>Random Forest Demo</a:t>
            </a:r>
          </a:p>
        </p:txBody>
      </p:sp>
    </p:spTree>
    <p:extLst>
      <p:ext uri="{BB962C8B-B14F-4D97-AF65-F5344CB8AC3E}">
        <p14:creationId xmlns:p14="http://schemas.microsoft.com/office/powerpoint/2010/main" val="2253572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7D67-02C9-8043-8CFF-3C715B938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35434709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126B2-6199-B94F-BBAB-BBB9F91DF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boosting?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3B9A3-94D3-9248-A35F-1EB139449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A form of ensemble modeling using </a:t>
            </a:r>
            <a:r>
              <a:rPr lang="en-US" sz="1800" b="1" dirty="0">
                <a:solidFill>
                  <a:schemeClr val="tx2"/>
                </a:solidFill>
              </a:rPr>
              <a:t>multiple weak learners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Unlike random forests, in boosting the </a:t>
            </a:r>
            <a:r>
              <a:rPr lang="en-US" sz="1800" b="1" dirty="0">
                <a:solidFill>
                  <a:schemeClr val="tx2"/>
                </a:solidFill>
              </a:rPr>
              <a:t>weak learners are related </a:t>
            </a:r>
            <a:r>
              <a:rPr lang="en-US" sz="1800" dirty="0"/>
              <a:t>– for each successive model built, the model focuses on compensating for the mistakes of the previous models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Therefore, each successive model </a:t>
            </a:r>
            <a:r>
              <a:rPr lang="en-US" sz="1800" b="1" dirty="0">
                <a:solidFill>
                  <a:schemeClr val="tx2"/>
                </a:solidFill>
              </a:rPr>
              <a:t>learns from the mistakes of the previous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The final model combines all previous weak learner models</a:t>
            </a:r>
          </a:p>
        </p:txBody>
      </p:sp>
    </p:spTree>
    <p:extLst>
      <p:ext uri="{BB962C8B-B14F-4D97-AF65-F5344CB8AC3E}">
        <p14:creationId xmlns:p14="http://schemas.microsoft.com/office/powerpoint/2010/main" val="2269733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222CDD6-7C15-1048-8484-B94E3389D1E4}"/>
              </a:ext>
            </a:extLst>
          </p:cNvPr>
          <p:cNvSpPr/>
          <p:nvPr/>
        </p:nvSpPr>
        <p:spPr>
          <a:xfrm>
            <a:off x="7009724" y="1346487"/>
            <a:ext cx="1655412" cy="3035008"/>
          </a:xfrm>
          <a:prstGeom prst="rect">
            <a:avLst/>
          </a:prstGeom>
          <a:solidFill>
            <a:srgbClr val="0070C0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D88104-0F64-4A47-A39A-D9326E6AE180}"/>
              </a:ext>
            </a:extLst>
          </p:cNvPr>
          <p:cNvSpPr/>
          <p:nvPr/>
        </p:nvSpPr>
        <p:spPr>
          <a:xfrm>
            <a:off x="4923600" y="1346487"/>
            <a:ext cx="2069683" cy="3035008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E21C3-8839-EC4C-A005-E5A2EE513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Stumps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1FF1A-7238-1444-8090-9530FDCA8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815697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Single-node decision trees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Attempt to separate data based on values of a single feature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Moderately accurate at classifying the data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9FDA7A-D2AF-1D48-88D0-F88D62978E65}"/>
              </a:ext>
            </a:extLst>
          </p:cNvPr>
          <p:cNvSpPr>
            <a:spLocks noChangeAspect="1"/>
          </p:cNvSpPr>
          <p:nvPr/>
        </p:nvSpPr>
        <p:spPr>
          <a:xfrm>
            <a:off x="5590478" y="2790825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CABC7E0-B641-AF4E-AC34-0241970F052D}"/>
              </a:ext>
            </a:extLst>
          </p:cNvPr>
          <p:cNvSpPr>
            <a:spLocks noChangeAspect="1"/>
          </p:cNvSpPr>
          <p:nvPr/>
        </p:nvSpPr>
        <p:spPr>
          <a:xfrm>
            <a:off x="5526196" y="3313251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55DF3B-FC87-6444-B71A-DFA897FC21EF}"/>
              </a:ext>
            </a:extLst>
          </p:cNvPr>
          <p:cNvSpPr>
            <a:spLocks noChangeAspect="1"/>
          </p:cNvSpPr>
          <p:nvPr/>
        </p:nvSpPr>
        <p:spPr>
          <a:xfrm>
            <a:off x="6687015" y="345581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F848FA-7653-B046-9572-7DB78BCACFCE}"/>
              </a:ext>
            </a:extLst>
          </p:cNvPr>
          <p:cNvSpPr>
            <a:spLocks noChangeAspect="1"/>
          </p:cNvSpPr>
          <p:nvPr/>
        </p:nvSpPr>
        <p:spPr>
          <a:xfrm>
            <a:off x="6295008" y="2522337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1DBB5F-C632-9E48-A417-33DBEE2A9ECE}"/>
              </a:ext>
            </a:extLst>
          </p:cNvPr>
          <p:cNvSpPr>
            <a:spLocks noChangeAspect="1"/>
          </p:cNvSpPr>
          <p:nvPr/>
        </p:nvSpPr>
        <p:spPr>
          <a:xfrm>
            <a:off x="5192792" y="2556649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9CC0209-4B40-1C4E-B19C-6441A64DD560}"/>
              </a:ext>
            </a:extLst>
          </p:cNvPr>
          <p:cNvSpPr>
            <a:spLocks noChangeAspect="1"/>
          </p:cNvSpPr>
          <p:nvPr/>
        </p:nvSpPr>
        <p:spPr>
          <a:xfrm>
            <a:off x="6148040" y="381286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807488-ADC8-CB4B-B0CF-9064B2634A8D}"/>
              </a:ext>
            </a:extLst>
          </p:cNvPr>
          <p:cNvSpPr>
            <a:spLocks noChangeAspect="1"/>
          </p:cNvSpPr>
          <p:nvPr/>
        </p:nvSpPr>
        <p:spPr>
          <a:xfrm>
            <a:off x="5790662" y="2147814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DD624A-599E-2142-A25E-E8798F1D3207}"/>
              </a:ext>
            </a:extLst>
          </p:cNvPr>
          <p:cNvSpPr>
            <a:spLocks noChangeAspect="1"/>
          </p:cNvSpPr>
          <p:nvPr/>
        </p:nvSpPr>
        <p:spPr>
          <a:xfrm>
            <a:off x="6993286" y="3015999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107D09-8E1D-4A47-AAA3-D2F731B95D18}"/>
              </a:ext>
            </a:extLst>
          </p:cNvPr>
          <p:cNvSpPr>
            <a:spLocks noChangeAspect="1"/>
          </p:cNvSpPr>
          <p:nvPr/>
        </p:nvSpPr>
        <p:spPr>
          <a:xfrm>
            <a:off x="6803336" y="2229542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CE22EF-894F-2949-8C8A-C214F65CAB5D}"/>
              </a:ext>
            </a:extLst>
          </p:cNvPr>
          <p:cNvSpPr>
            <a:spLocks noChangeAspect="1"/>
          </p:cNvSpPr>
          <p:nvPr/>
        </p:nvSpPr>
        <p:spPr>
          <a:xfrm>
            <a:off x="7396977" y="2102470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8B9347-DD4B-4A4C-8946-DF54C4D1E034}"/>
              </a:ext>
            </a:extLst>
          </p:cNvPr>
          <p:cNvSpPr>
            <a:spLocks noChangeAspect="1"/>
          </p:cNvSpPr>
          <p:nvPr/>
        </p:nvSpPr>
        <p:spPr>
          <a:xfrm>
            <a:off x="7486816" y="1541485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3D33213-F41E-7F41-BD96-3610B94B0623}"/>
              </a:ext>
            </a:extLst>
          </p:cNvPr>
          <p:cNvSpPr>
            <a:spLocks noChangeAspect="1"/>
          </p:cNvSpPr>
          <p:nvPr/>
        </p:nvSpPr>
        <p:spPr>
          <a:xfrm>
            <a:off x="6561726" y="1578800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17CD6B9-5823-0A43-9F19-A80011A5A310}"/>
              </a:ext>
            </a:extLst>
          </p:cNvPr>
          <p:cNvCxnSpPr>
            <a:cxnSpLocks/>
          </p:cNvCxnSpPr>
          <p:nvPr/>
        </p:nvCxnSpPr>
        <p:spPr>
          <a:xfrm flipV="1">
            <a:off x="4901938" y="1346486"/>
            <a:ext cx="0" cy="3035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C44255-B128-3549-B175-0BD6D41C5147}"/>
              </a:ext>
            </a:extLst>
          </p:cNvPr>
          <p:cNvCxnSpPr>
            <a:cxnSpLocks/>
          </p:cNvCxnSpPr>
          <p:nvPr/>
        </p:nvCxnSpPr>
        <p:spPr>
          <a:xfrm>
            <a:off x="4901938" y="4381501"/>
            <a:ext cx="3784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47B3716-F77A-B74D-AF21-122C18ADD838}"/>
              </a:ext>
            </a:extLst>
          </p:cNvPr>
          <p:cNvSpPr txBox="1"/>
          <p:nvPr/>
        </p:nvSpPr>
        <p:spPr>
          <a:xfrm>
            <a:off x="8665136" y="4136687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D20958-6EE4-E44B-991C-D4FACB565FA9}"/>
              </a:ext>
            </a:extLst>
          </p:cNvPr>
          <p:cNvSpPr txBox="1"/>
          <p:nvPr/>
        </p:nvSpPr>
        <p:spPr>
          <a:xfrm>
            <a:off x="4718161" y="961841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E5F8893-D72D-264F-A0F1-69938890AD41}"/>
              </a:ext>
            </a:extLst>
          </p:cNvPr>
          <p:cNvSpPr>
            <a:spLocks noChangeAspect="1"/>
          </p:cNvSpPr>
          <p:nvPr/>
        </p:nvSpPr>
        <p:spPr>
          <a:xfrm>
            <a:off x="6678047" y="403134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FABCA5-16F1-9449-B5F6-53A4E5BE3AC6}"/>
              </a:ext>
            </a:extLst>
          </p:cNvPr>
          <p:cNvCxnSpPr/>
          <p:nvPr/>
        </p:nvCxnSpPr>
        <p:spPr>
          <a:xfrm flipV="1">
            <a:off x="6993283" y="1346486"/>
            <a:ext cx="0" cy="3035015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DD73EB40-C994-2645-B93E-C1FBA64CA2D4}"/>
              </a:ext>
            </a:extLst>
          </p:cNvPr>
          <p:cNvSpPr>
            <a:spLocks noChangeAspect="1"/>
          </p:cNvSpPr>
          <p:nvPr/>
        </p:nvSpPr>
        <p:spPr>
          <a:xfrm>
            <a:off x="5675647" y="2036277"/>
            <a:ext cx="445924" cy="4562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EE0CCE2-3B97-3442-8368-63D7CB72C3AC}"/>
              </a:ext>
            </a:extLst>
          </p:cNvPr>
          <p:cNvSpPr>
            <a:spLocks noChangeAspect="1"/>
          </p:cNvSpPr>
          <p:nvPr/>
        </p:nvSpPr>
        <p:spPr>
          <a:xfrm>
            <a:off x="6669916" y="2117021"/>
            <a:ext cx="445924" cy="4562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8061757-FD79-7D4B-B9E4-8314E0C7270F}"/>
              </a:ext>
            </a:extLst>
          </p:cNvPr>
          <p:cNvSpPr>
            <a:spLocks noChangeAspect="1"/>
          </p:cNvSpPr>
          <p:nvPr/>
        </p:nvSpPr>
        <p:spPr>
          <a:xfrm>
            <a:off x="6464053" y="1474373"/>
            <a:ext cx="445924" cy="4562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1A88245-EC17-7D4A-81BE-2D8F0CCD5D67}"/>
              </a:ext>
            </a:extLst>
          </p:cNvPr>
          <p:cNvSpPr>
            <a:spLocks noChangeAspect="1"/>
          </p:cNvSpPr>
          <p:nvPr/>
        </p:nvSpPr>
        <p:spPr>
          <a:xfrm>
            <a:off x="8295470" y="1660744"/>
            <a:ext cx="445924" cy="4562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6A081C-FCEB-B040-B600-CC5958DA13A8}"/>
              </a:ext>
            </a:extLst>
          </p:cNvPr>
          <p:cNvSpPr txBox="1"/>
          <p:nvPr/>
        </p:nvSpPr>
        <p:spPr>
          <a:xfrm>
            <a:off x="6591233" y="4431477"/>
            <a:ext cx="1011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1</a:t>
            </a:r>
            <a:r>
              <a:rPr lang="en-US" sz="1400" dirty="0"/>
              <a:t>=0.6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4627C91-D615-AA45-875E-3D29BA613B52}"/>
              </a:ext>
            </a:extLst>
          </p:cNvPr>
          <p:cNvSpPr>
            <a:spLocks noChangeAspect="1"/>
          </p:cNvSpPr>
          <p:nvPr/>
        </p:nvSpPr>
        <p:spPr>
          <a:xfrm>
            <a:off x="8021445" y="2306847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0B88D06-BB86-AE48-8EA1-92F21737CC3D}"/>
              </a:ext>
            </a:extLst>
          </p:cNvPr>
          <p:cNvSpPr>
            <a:spLocks noChangeAspect="1"/>
          </p:cNvSpPr>
          <p:nvPr/>
        </p:nvSpPr>
        <p:spPr>
          <a:xfrm>
            <a:off x="8378076" y="1779998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38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1F972CA4-93BB-5246-B1EE-7411BE252D15}"/>
              </a:ext>
            </a:extLst>
          </p:cNvPr>
          <p:cNvSpPr/>
          <p:nvPr/>
        </p:nvSpPr>
        <p:spPr>
          <a:xfrm>
            <a:off x="4923600" y="2501484"/>
            <a:ext cx="3741523" cy="1880017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2C8CC7-A8DF-6F49-96AD-E20EE294252E}"/>
              </a:ext>
            </a:extLst>
          </p:cNvPr>
          <p:cNvSpPr/>
          <p:nvPr/>
        </p:nvSpPr>
        <p:spPr>
          <a:xfrm>
            <a:off x="4901937" y="1346487"/>
            <a:ext cx="3784861" cy="1139683"/>
          </a:xfrm>
          <a:prstGeom prst="rect">
            <a:avLst/>
          </a:prstGeom>
          <a:solidFill>
            <a:srgbClr val="0070C0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E21C3-8839-EC4C-A005-E5A2EE513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Stumps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1FF1A-7238-1444-8090-9530FDCA8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815697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Let’s define a different decision stump to try to correctly classify the points that we previously got incorrect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9FDA7A-D2AF-1D48-88D0-F88D62978E65}"/>
              </a:ext>
            </a:extLst>
          </p:cNvPr>
          <p:cNvSpPr>
            <a:spLocks noChangeAspect="1"/>
          </p:cNvSpPr>
          <p:nvPr/>
        </p:nvSpPr>
        <p:spPr>
          <a:xfrm>
            <a:off x="5590478" y="2790825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CABC7E0-B641-AF4E-AC34-0241970F052D}"/>
              </a:ext>
            </a:extLst>
          </p:cNvPr>
          <p:cNvSpPr>
            <a:spLocks noChangeAspect="1"/>
          </p:cNvSpPr>
          <p:nvPr/>
        </p:nvSpPr>
        <p:spPr>
          <a:xfrm>
            <a:off x="5526196" y="3313251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DFF8680-4080-1644-B6E1-0CE635406114}"/>
              </a:ext>
            </a:extLst>
          </p:cNvPr>
          <p:cNvSpPr>
            <a:spLocks noChangeAspect="1"/>
          </p:cNvSpPr>
          <p:nvPr/>
        </p:nvSpPr>
        <p:spPr>
          <a:xfrm>
            <a:off x="8378076" y="1779998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55DF3B-FC87-6444-B71A-DFA897FC21EF}"/>
              </a:ext>
            </a:extLst>
          </p:cNvPr>
          <p:cNvSpPr>
            <a:spLocks noChangeAspect="1"/>
          </p:cNvSpPr>
          <p:nvPr/>
        </p:nvSpPr>
        <p:spPr>
          <a:xfrm>
            <a:off x="6687015" y="345581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F848FA-7653-B046-9572-7DB78BCACFCE}"/>
              </a:ext>
            </a:extLst>
          </p:cNvPr>
          <p:cNvSpPr>
            <a:spLocks noChangeAspect="1"/>
          </p:cNvSpPr>
          <p:nvPr/>
        </p:nvSpPr>
        <p:spPr>
          <a:xfrm>
            <a:off x="6295008" y="2522337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1DBB5F-C632-9E48-A417-33DBEE2A9ECE}"/>
              </a:ext>
            </a:extLst>
          </p:cNvPr>
          <p:cNvSpPr>
            <a:spLocks noChangeAspect="1"/>
          </p:cNvSpPr>
          <p:nvPr/>
        </p:nvSpPr>
        <p:spPr>
          <a:xfrm>
            <a:off x="5192792" y="2556649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9CC0209-4B40-1C4E-B19C-6441A64DD560}"/>
              </a:ext>
            </a:extLst>
          </p:cNvPr>
          <p:cNvSpPr>
            <a:spLocks noChangeAspect="1"/>
          </p:cNvSpPr>
          <p:nvPr/>
        </p:nvSpPr>
        <p:spPr>
          <a:xfrm>
            <a:off x="6148040" y="381286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807488-ADC8-CB4B-B0CF-9064B2634A8D}"/>
              </a:ext>
            </a:extLst>
          </p:cNvPr>
          <p:cNvSpPr>
            <a:spLocks noChangeAspect="1"/>
          </p:cNvSpPr>
          <p:nvPr/>
        </p:nvSpPr>
        <p:spPr>
          <a:xfrm>
            <a:off x="5790662" y="2147814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DD624A-599E-2142-A25E-E8798F1D3207}"/>
              </a:ext>
            </a:extLst>
          </p:cNvPr>
          <p:cNvSpPr>
            <a:spLocks noChangeAspect="1"/>
          </p:cNvSpPr>
          <p:nvPr/>
        </p:nvSpPr>
        <p:spPr>
          <a:xfrm>
            <a:off x="6993286" y="3015999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107D09-8E1D-4A47-AAA3-D2F731B95D18}"/>
              </a:ext>
            </a:extLst>
          </p:cNvPr>
          <p:cNvSpPr>
            <a:spLocks noChangeAspect="1"/>
          </p:cNvSpPr>
          <p:nvPr/>
        </p:nvSpPr>
        <p:spPr>
          <a:xfrm>
            <a:off x="6803336" y="2229542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CE22EF-894F-2949-8C8A-C214F65CAB5D}"/>
              </a:ext>
            </a:extLst>
          </p:cNvPr>
          <p:cNvSpPr>
            <a:spLocks noChangeAspect="1"/>
          </p:cNvSpPr>
          <p:nvPr/>
        </p:nvSpPr>
        <p:spPr>
          <a:xfrm>
            <a:off x="7396977" y="2102470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DC3D34-6CB6-7F40-B47A-A191C69DF381}"/>
              </a:ext>
            </a:extLst>
          </p:cNvPr>
          <p:cNvSpPr>
            <a:spLocks noChangeAspect="1"/>
          </p:cNvSpPr>
          <p:nvPr/>
        </p:nvSpPr>
        <p:spPr>
          <a:xfrm>
            <a:off x="8021445" y="2306847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8B9347-DD4B-4A4C-8946-DF54C4D1E034}"/>
              </a:ext>
            </a:extLst>
          </p:cNvPr>
          <p:cNvSpPr>
            <a:spLocks noChangeAspect="1"/>
          </p:cNvSpPr>
          <p:nvPr/>
        </p:nvSpPr>
        <p:spPr>
          <a:xfrm>
            <a:off x="7486816" y="1541485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3D33213-F41E-7F41-BD96-3610B94B0623}"/>
              </a:ext>
            </a:extLst>
          </p:cNvPr>
          <p:cNvSpPr>
            <a:spLocks noChangeAspect="1"/>
          </p:cNvSpPr>
          <p:nvPr/>
        </p:nvSpPr>
        <p:spPr>
          <a:xfrm>
            <a:off x="6561726" y="1578800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17CD6B9-5823-0A43-9F19-A80011A5A310}"/>
              </a:ext>
            </a:extLst>
          </p:cNvPr>
          <p:cNvCxnSpPr>
            <a:cxnSpLocks/>
          </p:cNvCxnSpPr>
          <p:nvPr/>
        </p:nvCxnSpPr>
        <p:spPr>
          <a:xfrm flipV="1">
            <a:off x="4901938" y="1346486"/>
            <a:ext cx="0" cy="3035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C44255-B128-3549-B175-0BD6D41C5147}"/>
              </a:ext>
            </a:extLst>
          </p:cNvPr>
          <p:cNvCxnSpPr>
            <a:cxnSpLocks/>
          </p:cNvCxnSpPr>
          <p:nvPr/>
        </p:nvCxnSpPr>
        <p:spPr>
          <a:xfrm>
            <a:off x="4901938" y="4381501"/>
            <a:ext cx="3784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47B3716-F77A-B74D-AF21-122C18ADD838}"/>
              </a:ext>
            </a:extLst>
          </p:cNvPr>
          <p:cNvSpPr txBox="1"/>
          <p:nvPr/>
        </p:nvSpPr>
        <p:spPr>
          <a:xfrm>
            <a:off x="8665136" y="4136687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D20958-6EE4-E44B-991C-D4FACB565FA9}"/>
              </a:ext>
            </a:extLst>
          </p:cNvPr>
          <p:cNvSpPr txBox="1"/>
          <p:nvPr/>
        </p:nvSpPr>
        <p:spPr>
          <a:xfrm>
            <a:off x="4718161" y="961841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E5F8893-D72D-264F-A0F1-69938890AD41}"/>
              </a:ext>
            </a:extLst>
          </p:cNvPr>
          <p:cNvSpPr>
            <a:spLocks noChangeAspect="1"/>
          </p:cNvSpPr>
          <p:nvPr/>
        </p:nvSpPr>
        <p:spPr>
          <a:xfrm>
            <a:off x="6678047" y="403134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FABCA5-16F1-9449-B5F6-53A4E5BE3AC6}"/>
              </a:ext>
            </a:extLst>
          </p:cNvPr>
          <p:cNvCxnSpPr>
            <a:cxnSpLocks/>
          </p:cNvCxnSpPr>
          <p:nvPr/>
        </p:nvCxnSpPr>
        <p:spPr>
          <a:xfrm flipH="1">
            <a:off x="4901938" y="2505968"/>
            <a:ext cx="3763198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96A081C-FCEB-B040-B600-CC5958DA13A8}"/>
              </a:ext>
            </a:extLst>
          </p:cNvPr>
          <p:cNvSpPr txBox="1"/>
          <p:nvPr/>
        </p:nvSpPr>
        <p:spPr>
          <a:xfrm>
            <a:off x="4194017" y="2280354"/>
            <a:ext cx="1011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2</a:t>
            </a:r>
            <a:r>
              <a:rPr lang="en-US" sz="1400" dirty="0"/>
              <a:t>=0.6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53105D0-D553-3D49-B3AD-676F9EA629CA}"/>
              </a:ext>
            </a:extLst>
          </p:cNvPr>
          <p:cNvSpPr>
            <a:spLocks noChangeAspect="1"/>
          </p:cNvSpPr>
          <p:nvPr/>
        </p:nvSpPr>
        <p:spPr>
          <a:xfrm>
            <a:off x="6886645" y="2876767"/>
            <a:ext cx="445924" cy="4562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E041921-B0C6-244C-B6EC-9EB572CFF656}"/>
              </a:ext>
            </a:extLst>
          </p:cNvPr>
          <p:cNvSpPr>
            <a:spLocks noChangeAspect="1"/>
          </p:cNvSpPr>
          <p:nvPr/>
        </p:nvSpPr>
        <p:spPr>
          <a:xfrm>
            <a:off x="8258006" y="1674409"/>
            <a:ext cx="445924" cy="4562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3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2D88104-0F64-4A47-A39A-D9326E6AE180}"/>
              </a:ext>
            </a:extLst>
          </p:cNvPr>
          <p:cNvSpPr/>
          <p:nvPr/>
        </p:nvSpPr>
        <p:spPr>
          <a:xfrm>
            <a:off x="8260775" y="1346487"/>
            <a:ext cx="480614" cy="3035008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222CDD6-7C15-1048-8484-B94E3389D1E4}"/>
              </a:ext>
            </a:extLst>
          </p:cNvPr>
          <p:cNvSpPr/>
          <p:nvPr/>
        </p:nvSpPr>
        <p:spPr>
          <a:xfrm>
            <a:off x="4901934" y="1346487"/>
            <a:ext cx="3345468" cy="3035008"/>
          </a:xfrm>
          <a:prstGeom prst="rect">
            <a:avLst/>
          </a:prstGeom>
          <a:solidFill>
            <a:srgbClr val="0070C0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E21C3-8839-EC4C-A005-E5A2EE513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Stumps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1FF1A-7238-1444-8090-9530FDCA8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815697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Close, but not quite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Let’s try one more to correctly classify the points we got wrong last time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9FDA7A-D2AF-1D48-88D0-F88D62978E65}"/>
              </a:ext>
            </a:extLst>
          </p:cNvPr>
          <p:cNvSpPr>
            <a:spLocks noChangeAspect="1"/>
          </p:cNvSpPr>
          <p:nvPr/>
        </p:nvSpPr>
        <p:spPr>
          <a:xfrm>
            <a:off x="5590478" y="2790825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CABC7E0-B641-AF4E-AC34-0241970F052D}"/>
              </a:ext>
            </a:extLst>
          </p:cNvPr>
          <p:cNvSpPr>
            <a:spLocks noChangeAspect="1"/>
          </p:cNvSpPr>
          <p:nvPr/>
        </p:nvSpPr>
        <p:spPr>
          <a:xfrm>
            <a:off x="5526196" y="3313251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55DF3B-FC87-6444-B71A-DFA897FC21EF}"/>
              </a:ext>
            </a:extLst>
          </p:cNvPr>
          <p:cNvSpPr>
            <a:spLocks noChangeAspect="1"/>
          </p:cNvSpPr>
          <p:nvPr/>
        </p:nvSpPr>
        <p:spPr>
          <a:xfrm>
            <a:off x="6687015" y="345581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F848FA-7653-B046-9572-7DB78BCACFCE}"/>
              </a:ext>
            </a:extLst>
          </p:cNvPr>
          <p:cNvSpPr>
            <a:spLocks noChangeAspect="1"/>
          </p:cNvSpPr>
          <p:nvPr/>
        </p:nvSpPr>
        <p:spPr>
          <a:xfrm>
            <a:off x="6295008" y="2522337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1DBB5F-C632-9E48-A417-33DBEE2A9ECE}"/>
              </a:ext>
            </a:extLst>
          </p:cNvPr>
          <p:cNvSpPr>
            <a:spLocks noChangeAspect="1"/>
          </p:cNvSpPr>
          <p:nvPr/>
        </p:nvSpPr>
        <p:spPr>
          <a:xfrm>
            <a:off x="5192792" y="2556649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9CC0209-4B40-1C4E-B19C-6441A64DD560}"/>
              </a:ext>
            </a:extLst>
          </p:cNvPr>
          <p:cNvSpPr>
            <a:spLocks noChangeAspect="1"/>
          </p:cNvSpPr>
          <p:nvPr/>
        </p:nvSpPr>
        <p:spPr>
          <a:xfrm>
            <a:off x="6148040" y="381286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807488-ADC8-CB4B-B0CF-9064B2634A8D}"/>
              </a:ext>
            </a:extLst>
          </p:cNvPr>
          <p:cNvSpPr>
            <a:spLocks noChangeAspect="1"/>
          </p:cNvSpPr>
          <p:nvPr/>
        </p:nvSpPr>
        <p:spPr>
          <a:xfrm>
            <a:off x="5790662" y="2147814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DD624A-599E-2142-A25E-E8798F1D3207}"/>
              </a:ext>
            </a:extLst>
          </p:cNvPr>
          <p:cNvSpPr>
            <a:spLocks noChangeAspect="1"/>
          </p:cNvSpPr>
          <p:nvPr/>
        </p:nvSpPr>
        <p:spPr>
          <a:xfrm>
            <a:off x="6993286" y="3015999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107D09-8E1D-4A47-AAA3-D2F731B95D18}"/>
              </a:ext>
            </a:extLst>
          </p:cNvPr>
          <p:cNvSpPr>
            <a:spLocks noChangeAspect="1"/>
          </p:cNvSpPr>
          <p:nvPr/>
        </p:nvSpPr>
        <p:spPr>
          <a:xfrm>
            <a:off x="6803336" y="2229542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CE22EF-894F-2949-8C8A-C214F65CAB5D}"/>
              </a:ext>
            </a:extLst>
          </p:cNvPr>
          <p:cNvSpPr>
            <a:spLocks noChangeAspect="1"/>
          </p:cNvSpPr>
          <p:nvPr/>
        </p:nvSpPr>
        <p:spPr>
          <a:xfrm>
            <a:off x="7396977" y="2102470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8B9347-DD4B-4A4C-8946-DF54C4D1E034}"/>
              </a:ext>
            </a:extLst>
          </p:cNvPr>
          <p:cNvSpPr>
            <a:spLocks noChangeAspect="1"/>
          </p:cNvSpPr>
          <p:nvPr/>
        </p:nvSpPr>
        <p:spPr>
          <a:xfrm>
            <a:off x="7486816" y="1541485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3D33213-F41E-7F41-BD96-3610B94B0623}"/>
              </a:ext>
            </a:extLst>
          </p:cNvPr>
          <p:cNvSpPr>
            <a:spLocks noChangeAspect="1"/>
          </p:cNvSpPr>
          <p:nvPr/>
        </p:nvSpPr>
        <p:spPr>
          <a:xfrm>
            <a:off x="6561726" y="1578800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17CD6B9-5823-0A43-9F19-A80011A5A310}"/>
              </a:ext>
            </a:extLst>
          </p:cNvPr>
          <p:cNvCxnSpPr>
            <a:cxnSpLocks/>
          </p:cNvCxnSpPr>
          <p:nvPr/>
        </p:nvCxnSpPr>
        <p:spPr>
          <a:xfrm flipV="1">
            <a:off x="4901938" y="1346486"/>
            <a:ext cx="0" cy="3035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C44255-B128-3549-B175-0BD6D41C5147}"/>
              </a:ext>
            </a:extLst>
          </p:cNvPr>
          <p:cNvCxnSpPr>
            <a:cxnSpLocks/>
          </p:cNvCxnSpPr>
          <p:nvPr/>
        </p:nvCxnSpPr>
        <p:spPr>
          <a:xfrm>
            <a:off x="4901938" y="4381501"/>
            <a:ext cx="3784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47B3716-F77A-B74D-AF21-122C18ADD838}"/>
              </a:ext>
            </a:extLst>
          </p:cNvPr>
          <p:cNvSpPr txBox="1"/>
          <p:nvPr/>
        </p:nvSpPr>
        <p:spPr>
          <a:xfrm>
            <a:off x="8665136" y="4136687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D20958-6EE4-E44B-991C-D4FACB565FA9}"/>
              </a:ext>
            </a:extLst>
          </p:cNvPr>
          <p:cNvSpPr txBox="1"/>
          <p:nvPr/>
        </p:nvSpPr>
        <p:spPr>
          <a:xfrm>
            <a:off x="4718161" y="961841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E5F8893-D72D-264F-A0F1-69938890AD41}"/>
              </a:ext>
            </a:extLst>
          </p:cNvPr>
          <p:cNvSpPr>
            <a:spLocks noChangeAspect="1"/>
          </p:cNvSpPr>
          <p:nvPr/>
        </p:nvSpPr>
        <p:spPr>
          <a:xfrm>
            <a:off x="6678047" y="403134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FABCA5-16F1-9449-B5F6-53A4E5BE3AC6}"/>
              </a:ext>
            </a:extLst>
          </p:cNvPr>
          <p:cNvCxnSpPr/>
          <p:nvPr/>
        </p:nvCxnSpPr>
        <p:spPr>
          <a:xfrm flipV="1">
            <a:off x="8247402" y="1329810"/>
            <a:ext cx="0" cy="3035015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DD73EB40-C994-2645-B93E-C1FBA64CA2D4}"/>
              </a:ext>
            </a:extLst>
          </p:cNvPr>
          <p:cNvSpPr>
            <a:spLocks noChangeAspect="1"/>
          </p:cNvSpPr>
          <p:nvPr/>
        </p:nvSpPr>
        <p:spPr>
          <a:xfrm>
            <a:off x="5080272" y="2437395"/>
            <a:ext cx="445924" cy="4562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EE0CCE2-3B97-3442-8368-63D7CB72C3AC}"/>
              </a:ext>
            </a:extLst>
          </p:cNvPr>
          <p:cNvSpPr>
            <a:spLocks noChangeAspect="1"/>
          </p:cNvSpPr>
          <p:nvPr/>
        </p:nvSpPr>
        <p:spPr>
          <a:xfrm>
            <a:off x="6571630" y="3343826"/>
            <a:ext cx="445924" cy="4562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8061757-FD79-7D4B-B9E4-8314E0C7270F}"/>
              </a:ext>
            </a:extLst>
          </p:cNvPr>
          <p:cNvSpPr>
            <a:spLocks noChangeAspect="1"/>
          </p:cNvSpPr>
          <p:nvPr/>
        </p:nvSpPr>
        <p:spPr>
          <a:xfrm>
            <a:off x="6547362" y="3908548"/>
            <a:ext cx="445924" cy="4562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6A081C-FCEB-B040-B600-CC5958DA13A8}"/>
              </a:ext>
            </a:extLst>
          </p:cNvPr>
          <p:cNvSpPr txBox="1"/>
          <p:nvPr/>
        </p:nvSpPr>
        <p:spPr>
          <a:xfrm>
            <a:off x="7754823" y="4480192"/>
            <a:ext cx="1011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X</a:t>
            </a:r>
            <a:r>
              <a:rPr lang="en-US" sz="1400" baseline="-25000" dirty="0"/>
              <a:t>1</a:t>
            </a:r>
            <a:r>
              <a:rPr lang="en-US" sz="1400" dirty="0"/>
              <a:t>=0.9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4627C91-D615-AA45-875E-3D29BA613B52}"/>
              </a:ext>
            </a:extLst>
          </p:cNvPr>
          <p:cNvSpPr>
            <a:spLocks noChangeAspect="1"/>
          </p:cNvSpPr>
          <p:nvPr/>
        </p:nvSpPr>
        <p:spPr>
          <a:xfrm>
            <a:off x="8021445" y="2306847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0B88D06-BB86-AE48-8EA1-92F21737CC3D}"/>
              </a:ext>
            </a:extLst>
          </p:cNvPr>
          <p:cNvSpPr>
            <a:spLocks noChangeAspect="1"/>
          </p:cNvSpPr>
          <p:nvPr/>
        </p:nvSpPr>
        <p:spPr>
          <a:xfrm>
            <a:off x="8378076" y="1779998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F68E4FF-09B8-7242-936F-6D2FAE763798}"/>
              </a:ext>
            </a:extLst>
          </p:cNvPr>
          <p:cNvSpPr>
            <a:spLocks noChangeAspect="1"/>
          </p:cNvSpPr>
          <p:nvPr/>
        </p:nvSpPr>
        <p:spPr>
          <a:xfrm>
            <a:off x="5495239" y="2648447"/>
            <a:ext cx="445924" cy="4562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562467E-6484-6647-A107-C3DADD685109}"/>
              </a:ext>
            </a:extLst>
          </p:cNvPr>
          <p:cNvSpPr>
            <a:spLocks noChangeAspect="1"/>
          </p:cNvSpPr>
          <p:nvPr/>
        </p:nvSpPr>
        <p:spPr>
          <a:xfrm>
            <a:off x="6193147" y="2420308"/>
            <a:ext cx="445924" cy="4562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A7492B3-8143-0E43-9DF5-E3B19B0C280D}"/>
              </a:ext>
            </a:extLst>
          </p:cNvPr>
          <p:cNvSpPr>
            <a:spLocks noChangeAspect="1"/>
          </p:cNvSpPr>
          <p:nvPr/>
        </p:nvSpPr>
        <p:spPr>
          <a:xfrm>
            <a:off x="5421862" y="3193997"/>
            <a:ext cx="445924" cy="4562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423932A-9BFA-8644-AF5B-6B7A83AF6CB2}"/>
              </a:ext>
            </a:extLst>
          </p:cNvPr>
          <p:cNvSpPr>
            <a:spLocks noChangeAspect="1"/>
          </p:cNvSpPr>
          <p:nvPr/>
        </p:nvSpPr>
        <p:spPr>
          <a:xfrm>
            <a:off x="6040531" y="3697083"/>
            <a:ext cx="445924" cy="456277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9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57AAC3A-8F11-0049-84C5-268172823CDC}"/>
              </a:ext>
            </a:extLst>
          </p:cNvPr>
          <p:cNvSpPr/>
          <p:nvPr/>
        </p:nvSpPr>
        <p:spPr>
          <a:xfrm>
            <a:off x="4923600" y="1345654"/>
            <a:ext cx="3337175" cy="1143945"/>
          </a:xfrm>
          <a:prstGeom prst="rect">
            <a:avLst/>
          </a:prstGeom>
          <a:solidFill>
            <a:srgbClr val="0070C0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972CA4-93BB-5246-B1EE-7411BE252D15}"/>
              </a:ext>
            </a:extLst>
          </p:cNvPr>
          <p:cNvSpPr/>
          <p:nvPr/>
        </p:nvSpPr>
        <p:spPr>
          <a:xfrm>
            <a:off x="4923600" y="2522336"/>
            <a:ext cx="2048021" cy="1842787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845061-A165-8540-A13D-8781E93DA5D8}"/>
              </a:ext>
            </a:extLst>
          </p:cNvPr>
          <p:cNvSpPr/>
          <p:nvPr/>
        </p:nvSpPr>
        <p:spPr>
          <a:xfrm>
            <a:off x="8260775" y="1346486"/>
            <a:ext cx="480614" cy="3018635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EC5E84D-882F-4740-A788-B7C740CF08EC}"/>
              </a:ext>
            </a:extLst>
          </p:cNvPr>
          <p:cNvSpPr/>
          <p:nvPr/>
        </p:nvSpPr>
        <p:spPr>
          <a:xfrm>
            <a:off x="6960368" y="2504079"/>
            <a:ext cx="1293720" cy="1861049"/>
          </a:xfrm>
          <a:prstGeom prst="rect">
            <a:avLst/>
          </a:prstGeom>
          <a:solidFill>
            <a:srgbClr val="0070C0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E21C3-8839-EC4C-A005-E5A2EE513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Stumps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1FF1A-7238-1444-8090-9530FDCA8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815697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None of the individual decision stumps was able to correctly predict all points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But look what happens when we combine them together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9FDA7A-D2AF-1D48-88D0-F88D62978E65}"/>
              </a:ext>
            </a:extLst>
          </p:cNvPr>
          <p:cNvSpPr>
            <a:spLocks noChangeAspect="1"/>
          </p:cNvSpPr>
          <p:nvPr/>
        </p:nvSpPr>
        <p:spPr>
          <a:xfrm>
            <a:off x="5590478" y="2790825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CABC7E0-B641-AF4E-AC34-0241970F052D}"/>
              </a:ext>
            </a:extLst>
          </p:cNvPr>
          <p:cNvSpPr>
            <a:spLocks noChangeAspect="1"/>
          </p:cNvSpPr>
          <p:nvPr/>
        </p:nvSpPr>
        <p:spPr>
          <a:xfrm>
            <a:off x="5526196" y="3313251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55DF3B-FC87-6444-B71A-DFA897FC21EF}"/>
              </a:ext>
            </a:extLst>
          </p:cNvPr>
          <p:cNvSpPr>
            <a:spLocks noChangeAspect="1"/>
          </p:cNvSpPr>
          <p:nvPr/>
        </p:nvSpPr>
        <p:spPr>
          <a:xfrm>
            <a:off x="6687015" y="345581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F848FA-7653-B046-9572-7DB78BCACFCE}"/>
              </a:ext>
            </a:extLst>
          </p:cNvPr>
          <p:cNvSpPr>
            <a:spLocks noChangeAspect="1"/>
          </p:cNvSpPr>
          <p:nvPr/>
        </p:nvSpPr>
        <p:spPr>
          <a:xfrm>
            <a:off x="6295008" y="2522337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1DBB5F-C632-9E48-A417-33DBEE2A9ECE}"/>
              </a:ext>
            </a:extLst>
          </p:cNvPr>
          <p:cNvSpPr>
            <a:spLocks noChangeAspect="1"/>
          </p:cNvSpPr>
          <p:nvPr/>
        </p:nvSpPr>
        <p:spPr>
          <a:xfrm>
            <a:off x="5192792" y="2556649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9CC0209-4B40-1C4E-B19C-6441A64DD560}"/>
              </a:ext>
            </a:extLst>
          </p:cNvPr>
          <p:cNvSpPr>
            <a:spLocks noChangeAspect="1"/>
          </p:cNvSpPr>
          <p:nvPr/>
        </p:nvSpPr>
        <p:spPr>
          <a:xfrm>
            <a:off x="6148040" y="381286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807488-ADC8-CB4B-B0CF-9064B2634A8D}"/>
              </a:ext>
            </a:extLst>
          </p:cNvPr>
          <p:cNvSpPr>
            <a:spLocks noChangeAspect="1"/>
          </p:cNvSpPr>
          <p:nvPr/>
        </p:nvSpPr>
        <p:spPr>
          <a:xfrm>
            <a:off x="5790662" y="2147814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DD624A-599E-2142-A25E-E8798F1D3207}"/>
              </a:ext>
            </a:extLst>
          </p:cNvPr>
          <p:cNvSpPr>
            <a:spLocks noChangeAspect="1"/>
          </p:cNvSpPr>
          <p:nvPr/>
        </p:nvSpPr>
        <p:spPr>
          <a:xfrm>
            <a:off x="6993286" y="3015999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107D09-8E1D-4A47-AAA3-D2F731B95D18}"/>
              </a:ext>
            </a:extLst>
          </p:cNvPr>
          <p:cNvSpPr>
            <a:spLocks noChangeAspect="1"/>
          </p:cNvSpPr>
          <p:nvPr/>
        </p:nvSpPr>
        <p:spPr>
          <a:xfrm>
            <a:off x="6803336" y="2229542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CE22EF-894F-2949-8C8A-C214F65CAB5D}"/>
              </a:ext>
            </a:extLst>
          </p:cNvPr>
          <p:cNvSpPr>
            <a:spLocks noChangeAspect="1"/>
          </p:cNvSpPr>
          <p:nvPr/>
        </p:nvSpPr>
        <p:spPr>
          <a:xfrm>
            <a:off x="7396977" y="2102470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DC3D34-6CB6-7F40-B47A-A191C69DF381}"/>
              </a:ext>
            </a:extLst>
          </p:cNvPr>
          <p:cNvSpPr>
            <a:spLocks noChangeAspect="1"/>
          </p:cNvSpPr>
          <p:nvPr/>
        </p:nvSpPr>
        <p:spPr>
          <a:xfrm>
            <a:off x="8021445" y="2306847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8B9347-DD4B-4A4C-8946-DF54C4D1E034}"/>
              </a:ext>
            </a:extLst>
          </p:cNvPr>
          <p:cNvSpPr>
            <a:spLocks noChangeAspect="1"/>
          </p:cNvSpPr>
          <p:nvPr/>
        </p:nvSpPr>
        <p:spPr>
          <a:xfrm>
            <a:off x="7486816" y="1541485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3D33213-F41E-7F41-BD96-3610B94B0623}"/>
              </a:ext>
            </a:extLst>
          </p:cNvPr>
          <p:cNvSpPr>
            <a:spLocks noChangeAspect="1"/>
          </p:cNvSpPr>
          <p:nvPr/>
        </p:nvSpPr>
        <p:spPr>
          <a:xfrm>
            <a:off x="6561726" y="1578800"/>
            <a:ext cx="232643" cy="21777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17CD6B9-5823-0A43-9F19-A80011A5A310}"/>
              </a:ext>
            </a:extLst>
          </p:cNvPr>
          <p:cNvCxnSpPr>
            <a:cxnSpLocks/>
          </p:cNvCxnSpPr>
          <p:nvPr/>
        </p:nvCxnSpPr>
        <p:spPr>
          <a:xfrm flipV="1">
            <a:off x="4901938" y="1346486"/>
            <a:ext cx="0" cy="3035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C44255-B128-3549-B175-0BD6D41C5147}"/>
              </a:ext>
            </a:extLst>
          </p:cNvPr>
          <p:cNvCxnSpPr>
            <a:cxnSpLocks/>
          </p:cNvCxnSpPr>
          <p:nvPr/>
        </p:nvCxnSpPr>
        <p:spPr>
          <a:xfrm>
            <a:off x="4901938" y="4381501"/>
            <a:ext cx="3784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47B3716-F77A-B74D-AF21-122C18ADD838}"/>
              </a:ext>
            </a:extLst>
          </p:cNvPr>
          <p:cNvSpPr txBox="1"/>
          <p:nvPr/>
        </p:nvSpPr>
        <p:spPr>
          <a:xfrm>
            <a:off x="8665136" y="4136687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D20958-6EE4-E44B-991C-D4FACB565FA9}"/>
              </a:ext>
            </a:extLst>
          </p:cNvPr>
          <p:cNvSpPr txBox="1"/>
          <p:nvPr/>
        </p:nvSpPr>
        <p:spPr>
          <a:xfrm>
            <a:off x="4718161" y="961841"/>
            <a:ext cx="478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E5F8893-D72D-264F-A0F1-69938890AD41}"/>
              </a:ext>
            </a:extLst>
          </p:cNvPr>
          <p:cNvSpPr>
            <a:spLocks noChangeAspect="1"/>
          </p:cNvSpPr>
          <p:nvPr/>
        </p:nvSpPr>
        <p:spPr>
          <a:xfrm>
            <a:off x="6678047" y="4031344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FABCA5-16F1-9449-B5F6-53A4E5BE3AC6}"/>
              </a:ext>
            </a:extLst>
          </p:cNvPr>
          <p:cNvCxnSpPr>
            <a:cxnSpLocks/>
          </p:cNvCxnSpPr>
          <p:nvPr/>
        </p:nvCxnSpPr>
        <p:spPr>
          <a:xfrm flipH="1">
            <a:off x="4901938" y="2505968"/>
            <a:ext cx="3358837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A6231DA1-C784-2141-B2B0-D567D100B1CA}"/>
              </a:ext>
            </a:extLst>
          </p:cNvPr>
          <p:cNvSpPr>
            <a:spLocks noChangeAspect="1"/>
          </p:cNvSpPr>
          <p:nvPr/>
        </p:nvSpPr>
        <p:spPr>
          <a:xfrm>
            <a:off x="8378076" y="1779998"/>
            <a:ext cx="232643" cy="21777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9BA5109-F7ED-E04E-B017-EA3932263E99}"/>
              </a:ext>
            </a:extLst>
          </p:cNvPr>
          <p:cNvCxnSpPr>
            <a:cxnSpLocks/>
          </p:cNvCxnSpPr>
          <p:nvPr/>
        </p:nvCxnSpPr>
        <p:spPr>
          <a:xfrm flipH="1" flipV="1">
            <a:off x="8247403" y="1329811"/>
            <a:ext cx="6685" cy="303531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08A315-BE13-1341-9EDC-1FF20F1B3966}"/>
              </a:ext>
            </a:extLst>
          </p:cNvPr>
          <p:cNvCxnSpPr>
            <a:cxnSpLocks/>
          </p:cNvCxnSpPr>
          <p:nvPr/>
        </p:nvCxnSpPr>
        <p:spPr>
          <a:xfrm flipV="1">
            <a:off x="6993283" y="2504079"/>
            <a:ext cx="0" cy="1877423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Graphic 25" descr="Checkbox Checked with solid fill">
            <a:extLst>
              <a:ext uri="{FF2B5EF4-FFF2-40B4-BE49-F238E27FC236}">
                <a16:creationId xmlns:a16="http://schemas.microsoft.com/office/drawing/2014/main" id="{7C87C90E-A385-514B-BAC6-49B828A56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8109" y="1310488"/>
            <a:ext cx="2927863" cy="292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19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4307-484E-EC43-BE0B-85517795E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</a:t>
            </a:r>
          </a:p>
        </p:txBody>
      </p:sp>
      <p:pic>
        <p:nvPicPr>
          <p:cNvPr id="5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D31015E4-ACE1-3C4B-98C2-CBC1F6E205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60533" y="1294155"/>
            <a:ext cx="3526267" cy="300438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A684C2-5C47-A848-8C9D-FD3BE130A360}"/>
              </a:ext>
            </a:extLst>
          </p:cNvPr>
          <p:cNvSpPr txBox="1"/>
          <p:nvPr/>
        </p:nvSpPr>
        <p:spPr>
          <a:xfrm>
            <a:off x="5529395" y="4417999"/>
            <a:ext cx="258083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/>
              <a:t>Source: </a:t>
            </a:r>
            <a:r>
              <a:rPr lang="en-US" sz="700" i="1" dirty="0" err="1"/>
              <a:t>Raschka</a:t>
            </a:r>
            <a:r>
              <a:rPr lang="en-US" sz="700" i="1" dirty="0"/>
              <a:t>, Sebastian. “Python Machine Learning”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8E018A-6BB9-244F-B112-C532BF1CBF8E}"/>
              </a:ext>
            </a:extLst>
          </p:cNvPr>
          <p:cNvSpPr txBox="1">
            <a:spLocks/>
          </p:cNvSpPr>
          <p:nvPr/>
        </p:nvSpPr>
        <p:spPr bwMode="auto">
          <a:xfrm>
            <a:off x="457199" y="1200151"/>
            <a:ext cx="4703333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  <a:buFont typeface="+mj-lt"/>
              <a:buAutoNum type="arabicPeriod"/>
            </a:pPr>
            <a:r>
              <a:rPr lang="en-US" sz="1600" dirty="0"/>
              <a:t>We start by fitting a decision stump model on all training points</a:t>
            </a:r>
          </a:p>
          <a:p>
            <a:pPr>
              <a:spcAft>
                <a:spcPts val="400"/>
              </a:spcAft>
              <a:buFont typeface="+mj-lt"/>
              <a:buAutoNum type="arabicPeriod"/>
            </a:pPr>
            <a:r>
              <a:rPr lang="en-US" sz="1600" dirty="0"/>
              <a:t>In round 2, we assign higher weight to the points misclassified in round 1 and lower weight to the points classified correctly</a:t>
            </a:r>
          </a:p>
          <a:p>
            <a:pPr>
              <a:spcAft>
                <a:spcPts val="400"/>
              </a:spcAft>
              <a:buFont typeface="+mj-lt"/>
              <a:buAutoNum type="arabicPeriod"/>
            </a:pPr>
            <a:r>
              <a:rPr lang="en-US" sz="1600" dirty="0"/>
              <a:t>For round 3, we increase the weights of points misclassified in round 2, and decrease the weights of points correctly classified</a:t>
            </a:r>
          </a:p>
          <a:p>
            <a:pPr>
              <a:spcAft>
                <a:spcPts val="400"/>
              </a:spcAft>
              <a:buFont typeface="+mj-lt"/>
              <a:buAutoNum type="arabicPeriod"/>
            </a:pPr>
            <a:r>
              <a:rPr lang="en-US" sz="1600" dirty="0"/>
              <a:t>We combine all 3 weak learners into an ensemble model by a weighted majority vote, weighted by classification performance </a:t>
            </a:r>
          </a:p>
          <a:p>
            <a:pPr>
              <a:spcAft>
                <a:spcPts val="400"/>
              </a:spcAft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103414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A71A9-9393-A848-B333-9DA81F1C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9A4E23-23E6-CC41-9ABE-69D60BCC34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400"/>
                  </a:spcAft>
                  <a:buFont typeface="+mj-lt"/>
                  <a:buAutoNum type="arabicPeriod"/>
                </a:pPr>
                <a:r>
                  <a:rPr lang="en-US" sz="1800" dirty="0"/>
                  <a:t>Set the weight vector </a:t>
                </a:r>
                <a:r>
                  <a:rPr lang="en-US" sz="1800" b="1" i="1" dirty="0"/>
                  <a:t>w</a:t>
                </a:r>
                <a:r>
                  <a:rPr lang="en-US" sz="1800" dirty="0"/>
                  <a:t> to uniform weights where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800" b="0" dirty="0"/>
              </a:p>
              <a:p>
                <a:pPr>
                  <a:spcAft>
                    <a:spcPts val="400"/>
                  </a:spcAft>
                  <a:buFont typeface="+mj-lt"/>
                  <a:buAutoNum type="arabicPeriod"/>
                </a:pPr>
                <a:r>
                  <a:rPr lang="en-US" sz="1800" dirty="0"/>
                  <a:t>For every round </a:t>
                </a:r>
                <a:r>
                  <a:rPr lang="en-US" sz="1800" i="1" dirty="0"/>
                  <a:t>j</a:t>
                </a:r>
                <a:r>
                  <a:rPr lang="en-US" sz="1800" dirty="0"/>
                  <a:t> in </a:t>
                </a:r>
                <a:r>
                  <a:rPr lang="en-US" sz="1800" i="1" dirty="0"/>
                  <a:t>M</a:t>
                </a:r>
                <a:r>
                  <a:rPr lang="en-US" sz="1800" dirty="0"/>
                  <a:t> total boosting rounds:</a:t>
                </a:r>
              </a:p>
              <a:p>
                <a:pPr marL="800100" lvl="1" indent="-342900">
                  <a:spcAft>
                    <a:spcPts val="400"/>
                  </a:spcAft>
                  <a:buFont typeface="+mj-lt"/>
                  <a:buAutoNum type="arabicPeriod"/>
                </a:pPr>
                <a:r>
                  <a:rPr lang="en-US" sz="1600" dirty="0"/>
                  <a:t>Train a weak learner model </a:t>
                </a:r>
                <a:r>
                  <a:rPr lang="en-US" sz="1600" i="1" dirty="0" err="1"/>
                  <a:t>C</a:t>
                </a:r>
                <a:r>
                  <a:rPr lang="en-US" sz="1600" i="1" baseline="-25000" dirty="0" err="1"/>
                  <a:t>j</a:t>
                </a:r>
                <a:r>
                  <a:rPr lang="en-US" sz="1600" dirty="0"/>
                  <a:t> on the training data weighted by </a:t>
                </a:r>
                <a:r>
                  <a:rPr lang="en-US" sz="1600" b="1" i="1" dirty="0"/>
                  <a:t>w</a:t>
                </a:r>
              </a:p>
              <a:p>
                <a:pPr marL="800100" lvl="1" indent="-342900">
                  <a:spcAft>
                    <a:spcPts val="400"/>
                  </a:spcAft>
                  <a:buFont typeface="+mj-lt"/>
                  <a:buAutoNum type="arabicPeriod"/>
                </a:pPr>
                <a:r>
                  <a:rPr lang="en-US" sz="1600" dirty="0"/>
                  <a:t>Predict the class labels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600" dirty="0"/>
                  <a:t> (-1 or +1)</a:t>
                </a:r>
              </a:p>
              <a:p>
                <a:pPr marL="800100" lvl="1" indent="-342900">
                  <a:spcAft>
                    <a:spcPts val="400"/>
                  </a:spcAft>
                  <a:buFont typeface="+mj-lt"/>
                  <a:buAutoNum type="arabicPeriod"/>
                </a:pPr>
                <a:r>
                  <a:rPr lang="en-US" sz="1600" dirty="0"/>
                  <a:t>Compute the weighted error rate: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∙(</m:t>
                    </m:r>
                    <m:acc>
                      <m:accPr>
                        <m:chr m:val="̂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800100" lvl="1" indent="-342900">
                  <a:spcAft>
                    <a:spcPts val="400"/>
                  </a:spcAft>
                  <a:buFont typeface="+mj-lt"/>
                  <a:buAutoNum type="arabicPeriod"/>
                </a:pPr>
                <a:r>
                  <a:rPr lang="en-US" sz="1600" dirty="0"/>
                  <a:t>Compute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of learner </a:t>
                </a:r>
                <a:r>
                  <a:rPr lang="en-US" sz="1600" i="1" dirty="0" err="1"/>
                  <a:t>C</a:t>
                </a:r>
                <a:r>
                  <a:rPr lang="en-US" sz="1600" i="1" baseline="-25000" dirty="0" err="1"/>
                  <a:t>j</a:t>
                </a:r>
                <a:r>
                  <a:rPr lang="en-US" sz="1600" i="1" baseline="-25000" dirty="0"/>
                  <a:t> 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=0.5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</m:e>
                    </m:func>
                  </m:oMath>
                </a14:m>
                <a:endParaRPr lang="en-US" sz="1600" dirty="0"/>
              </a:p>
              <a:p>
                <a:pPr marL="800100" lvl="1" indent="-342900">
                  <a:spcAft>
                    <a:spcPts val="400"/>
                  </a:spcAft>
                  <a:buFont typeface="+mj-lt"/>
                  <a:buAutoNum type="arabicPeriod"/>
                </a:pPr>
                <a:r>
                  <a:rPr lang="en-US" sz="1600" dirty="0"/>
                  <a:t>Update the weight vector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⁡(−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∗ </m:t>
                    </m:r>
                    <m:acc>
                      <m:accPr>
                        <m:chr m:val="̂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800100" lvl="1" indent="-342900">
                  <a:spcAft>
                    <a:spcPts val="400"/>
                  </a:spcAft>
                  <a:buFont typeface="+mj-lt"/>
                  <a:buAutoNum type="arabicPeriod"/>
                </a:pPr>
                <a:r>
                  <a:rPr lang="en-US" sz="1600" dirty="0"/>
                  <a:t>Normalize the weight vector to sum to 1: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sz="1600" dirty="0"/>
              </a:p>
              <a:p>
                <a:pPr marL="457200" indent="-457200">
                  <a:spcAft>
                    <a:spcPts val="400"/>
                  </a:spcAft>
                  <a:buFont typeface="+mj-lt"/>
                  <a:buAutoNum type="arabicPeriod"/>
                </a:pPr>
                <a:r>
                  <a:rPr lang="en-US" sz="1800" dirty="0"/>
                  <a:t>Compute the final prediction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𝑓𝑖𝑛𝑎𝑙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)</a:t>
                </a:r>
              </a:p>
              <a:p>
                <a:pPr marL="457200" indent="-457200">
                  <a:spcAft>
                    <a:spcPts val="400"/>
                  </a:spcAft>
                  <a:buFont typeface="+mj-lt"/>
                  <a:buAutoNum type="arabicPeriod"/>
                </a:pPr>
                <a:endParaRPr lang="en-US" sz="2000" dirty="0"/>
              </a:p>
              <a:p>
                <a:pPr lvl="1">
                  <a:spcAft>
                    <a:spcPts val="400"/>
                  </a:spcAft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9A4E23-23E6-CC41-9ABE-69D60BCC34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6" t="-13492" b="-30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73552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D08FEAB-7A6E-CA4D-8280-467EE7287DE1}"/>
              </a:ext>
            </a:extLst>
          </p:cNvPr>
          <p:cNvSpPr/>
          <p:nvPr/>
        </p:nvSpPr>
        <p:spPr>
          <a:xfrm>
            <a:off x="659876" y="2790826"/>
            <a:ext cx="7475456" cy="187544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D3B4F1-8357-D642-9268-7BFF744BF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AdaBoost in Scikit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D6DD5-EAD5-FB4D-8825-99161EFEA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7857373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The default AdaBoost model uses a decision stump classifier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We can choose to use a different classifier if we wish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Our main hyperparameter is the number of weak learners (</a:t>
            </a:r>
            <a:r>
              <a:rPr lang="en-US" sz="1800" dirty="0" err="1"/>
              <a:t>n_estimators</a:t>
            </a:r>
            <a:r>
              <a:rPr lang="en-US" sz="18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CD76D0-712A-C343-A496-B2D39C61F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65" y="3798109"/>
            <a:ext cx="7023101" cy="659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FFF498-79F2-8C46-81D9-7B8A224A3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65" y="2914730"/>
            <a:ext cx="7023101" cy="51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551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7D67-02C9-8043-8CFF-3C715B938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</a:t>
            </a:r>
          </a:p>
        </p:txBody>
      </p:sp>
    </p:spTree>
    <p:extLst>
      <p:ext uri="{BB962C8B-B14F-4D97-AF65-F5344CB8AC3E}">
        <p14:creationId xmlns:p14="http://schemas.microsoft.com/office/powerpoint/2010/main" val="22818117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EEC2B-AAC1-544F-8704-BB2B6EAD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Thought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6AB13-4367-8D4F-A910-ED4BCD140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We are given (x</a:t>
            </a:r>
            <a:r>
              <a:rPr lang="en-US" sz="1800" baseline="-25000" dirty="0"/>
              <a:t>1</a:t>
            </a:r>
            <a:r>
              <a:rPr lang="en-US" sz="1800" dirty="0"/>
              <a:t>,y</a:t>
            </a:r>
            <a:r>
              <a:rPr lang="en-US" sz="1800" baseline="-25000" dirty="0"/>
              <a:t>1</a:t>
            </a:r>
            <a:r>
              <a:rPr lang="en-US" sz="1800" dirty="0"/>
              <a:t>), (x</a:t>
            </a:r>
            <a:r>
              <a:rPr lang="en-US" sz="1800" baseline="-25000" dirty="0"/>
              <a:t>2</a:t>
            </a:r>
            <a:r>
              <a:rPr lang="en-US" sz="1800" dirty="0"/>
              <a:t>,y</a:t>
            </a:r>
            <a:r>
              <a:rPr lang="en-US" sz="1800" baseline="-25000" dirty="0"/>
              <a:t>2</a:t>
            </a:r>
            <a:r>
              <a:rPr lang="en-US" sz="1800" dirty="0"/>
              <a:t>)… (</a:t>
            </a:r>
            <a:r>
              <a:rPr lang="en-US" sz="1800" dirty="0" err="1"/>
              <a:t>x</a:t>
            </a:r>
            <a:r>
              <a:rPr lang="en-US" sz="1800" baseline="-25000" dirty="0" err="1"/>
              <a:t>n</a:t>
            </a:r>
            <a:r>
              <a:rPr lang="en-US" sz="1800" dirty="0" err="1"/>
              <a:t>,y</a:t>
            </a:r>
            <a:r>
              <a:rPr lang="en-US" sz="1800" baseline="-25000" dirty="0" err="1"/>
              <a:t>n</a:t>
            </a:r>
            <a:r>
              <a:rPr lang="en-US" sz="1800" dirty="0"/>
              <a:t>) and we want to fit a model </a:t>
            </a:r>
            <a:r>
              <a:rPr lang="en-US" sz="1800" i="1" dirty="0"/>
              <a:t>F(x) </a:t>
            </a:r>
            <a:r>
              <a:rPr lang="en-US" sz="1800" dirty="0"/>
              <a:t>to minimize the squared loss (SSE)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We create a model </a:t>
            </a:r>
            <a:r>
              <a:rPr lang="en-US" sz="1800" i="1" dirty="0"/>
              <a:t>F(x) </a:t>
            </a:r>
            <a:r>
              <a:rPr lang="en-US" sz="1800" dirty="0"/>
              <a:t>but it has some error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We find F(x</a:t>
            </a:r>
            <a:r>
              <a:rPr lang="en-US" sz="1600" baseline="-25000" dirty="0"/>
              <a:t>1</a:t>
            </a:r>
            <a:r>
              <a:rPr lang="en-US" sz="1600" dirty="0"/>
              <a:t>) = 2.5 but y</a:t>
            </a:r>
            <a:r>
              <a:rPr lang="en-US" sz="1600" baseline="-25000" dirty="0"/>
              <a:t>1</a:t>
            </a:r>
            <a:r>
              <a:rPr lang="en-US" sz="1600" dirty="0"/>
              <a:t> = 2.6, and F(x</a:t>
            </a:r>
            <a:r>
              <a:rPr lang="en-US" sz="1600" baseline="-25000" dirty="0"/>
              <a:t>2</a:t>
            </a:r>
            <a:r>
              <a:rPr lang="en-US" sz="1600" dirty="0"/>
              <a:t>) = 0.7 but y</a:t>
            </a:r>
            <a:r>
              <a:rPr lang="en-US" sz="1600" baseline="-25000" dirty="0"/>
              <a:t>2</a:t>
            </a:r>
            <a:r>
              <a:rPr lang="en-US" sz="1600" dirty="0"/>
              <a:t> = 0.8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How can we improve this model? 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Rules: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You cannot change the model F(x)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But you can add more models</a:t>
            </a:r>
          </a:p>
        </p:txBody>
      </p:sp>
    </p:spTree>
    <p:extLst>
      <p:ext uri="{BB962C8B-B14F-4D97-AF65-F5344CB8AC3E}">
        <p14:creationId xmlns:p14="http://schemas.microsoft.com/office/powerpoint/2010/main" val="15231042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EEC2B-AAC1-544F-8704-BB2B6EAD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Thought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6AB13-4367-8D4F-A910-ED4BCD140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Suppose we create an additional model </a:t>
            </a:r>
            <a:r>
              <a:rPr lang="en-US" sz="1800" i="1" dirty="0"/>
              <a:t>G(x)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But rather than training </a:t>
            </a:r>
            <a:r>
              <a:rPr lang="en-US" sz="1800" i="1" dirty="0"/>
              <a:t>G(x)</a:t>
            </a:r>
            <a:r>
              <a:rPr lang="en-US" sz="1800" dirty="0"/>
              <a:t> to estimate y, we train it to estimate the errors (</a:t>
            </a:r>
            <a:r>
              <a:rPr lang="en-US" sz="1800" b="1" dirty="0"/>
              <a:t>residuals</a:t>
            </a:r>
            <a:r>
              <a:rPr lang="en-US" sz="1800" dirty="0"/>
              <a:t>) of model </a:t>
            </a:r>
            <a:r>
              <a:rPr lang="en-US" sz="1800" i="1" dirty="0"/>
              <a:t>F(x)</a:t>
            </a:r>
          </a:p>
          <a:p>
            <a:pPr marL="457200" lvl="1" indent="0">
              <a:spcAft>
                <a:spcPts val="400"/>
              </a:spcAft>
              <a:buNone/>
            </a:pPr>
            <a:r>
              <a:rPr lang="en-US" sz="1600" i="1" dirty="0"/>
              <a:t>G(x</a:t>
            </a:r>
            <a:r>
              <a:rPr lang="en-US" sz="1600" i="1" baseline="-25000" dirty="0"/>
              <a:t>1</a:t>
            </a:r>
            <a:r>
              <a:rPr lang="en-US" sz="1600" i="1" dirty="0"/>
              <a:t>) = y</a:t>
            </a:r>
            <a:r>
              <a:rPr lang="en-US" sz="1600" i="1" baseline="-25000" dirty="0"/>
              <a:t>1</a:t>
            </a:r>
            <a:r>
              <a:rPr lang="en-US" sz="1600" i="1" dirty="0"/>
              <a:t> - F(x</a:t>
            </a:r>
            <a:r>
              <a:rPr lang="en-US" sz="1600" i="1" baseline="-25000" dirty="0"/>
              <a:t>1</a:t>
            </a:r>
            <a:r>
              <a:rPr lang="en-US" sz="1600" i="1" dirty="0"/>
              <a:t>)</a:t>
            </a:r>
          </a:p>
          <a:p>
            <a:pPr marL="457200" lvl="1" indent="0">
              <a:spcAft>
                <a:spcPts val="400"/>
              </a:spcAft>
              <a:buNone/>
            </a:pPr>
            <a:r>
              <a:rPr lang="en-US" sz="1600" i="1" dirty="0"/>
              <a:t>G(x</a:t>
            </a:r>
            <a:r>
              <a:rPr lang="en-US" sz="1600" i="1" baseline="-25000" dirty="0"/>
              <a:t>2</a:t>
            </a:r>
            <a:r>
              <a:rPr lang="en-US" sz="1600" i="1" dirty="0"/>
              <a:t>) = y</a:t>
            </a:r>
            <a:r>
              <a:rPr lang="en-US" sz="1600" i="1" baseline="-25000" dirty="0"/>
              <a:t>2</a:t>
            </a:r>
            <a:r>
              <a:rPr lang="en-US" sz="1600" i="1" dirty="0"/>
              <a:t> - F(x</a:t>
            </a:r>
            <a:r>
              <a:rPr lang="en-US" sz="1600" i="1" baseline="-25000" dirty="0"/>
              <a:t>2</a:t>
            </a:r>
            <a:r>
              <a:rPr lang="en-US" sz="1600" i="1" dirty="0"/>
              <a:t>)</a:t>
            </a:r>
          </a:p>
          <a:p>
            <a:pPr marL="457200" lvl="1" indent="0">
              <a:spcAft>
                <a:spcPts val="400"/>
              </a:spcAft>
              <a:buNone/>
            </a:pPr>
            <a:r>
              <a:rPr lang="en-US" sz="1600" i="1" dirty="0"/>
              <a:t>…</a:t>
            </a:r>
          </a:p>
          <a:p>
            <a:pPr marL="457200" lvl="1" indent="0">
              <a:spcAft>
                <a:spcPts val="400"/>
              </a:spcAft>
              <a:buNone/>
            </a:pPr>
            <a:r>
              <a:rPr lang="en-US" sz="1600" i="1" dirty="0"/>
              <a:t>G(</a:t>
            </a:r>
            <a:r>
              <a:rPr lang="en-US" sz="1600" i="1" dirty="0" err="1"/>
              <a:t>x</a:t>
            </a:r>
            <a:r>
              <a:rPr lang="en-US" sz="1600" i="1" baseline="-25000" dirty="0" err="1"/>
              <a:t>n</a:t>
            </a:r>
            <a:r>
              <a:rPr lang="en-US" sz="1600" i="1" dirty="0"/>
              <a:t>) = </a:t>
            </a:r>
            <a:r>
              <a:rPr lang="en-US" sz="1600" i="1" dirty="0" err="1"/>
              <a:t>y</a:t>
            </a:r>
            <a:r>
              <a:rPr lang="en-US" sz="1600" i="1" baseline="-25000" dirty="0" err="1"/>
              <a:t>n</a:t>
            </a:r>
            <a:r>
              <a:rPr lang="en-US" sz="1600" i="1" dirty="0"/>
              <a:t> - F(</a:t>
            </a:r>
            <a:r>
              <a:rPr lang="en-US" sz="1600" i="1" dirty="0" err="1"/>
              <a:t>x</a:t>
            </a:r>
            <a:r>
              <a:rPr lang="en-US" sz="1600" i="1" baseline="-25000" dirty="0" err="1"/>
              <a:t>n</a:t>
            </a:r>
            <a:r>
              <a:rPr lang="en-US" sz="1600" i="1" dirty="0"/>
              <a:t>)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So we train </a:t>
            </a:r>
            <a:r>
              <a:rPr lang="en-US" sz="1800" i="1" dirty="0"/>
              <a:t>G(x)</a:t>
            </a:r>
            <a:r>
              <a:rPr lang="en-US" sz="1800" dirty="0"/>
              <a:t> on the data (x</a:t>
            </a:r>
            <a:r>
              <a:rPr lang="en-US" sz="1800" baseline="-25000" dirty="0"/>
              <a:t>1</a:t>
            </a:r>
            <a:r>
              <a:rPr lang="en-US" sz="1800" dirty="0"/>
              <a:t>, y</a:t>
            </a:r>
            <a:r>
              <a:rPr lang="en-US" sz="1800" baseline="-25000" dirty="0"/>
              <a:t>1</a:t>
            </a:r>
            <a:r>
              <a:rPr lang="en-US" sz="1800" dirty="0"/>
              <a:t>-F(x</a:t>
            </a:r>
            <a:r>
              <a:rPr lang="en-US" sz="1800" baseline="-25000" dirty="0"/>
              <a:t>1</a:t>
            </a:r>
            <a:r>
              <a:rPr lang="en-US" sz="1800" dirty="0"/>
              <a:t>)), </a:t>
            </a:r>
            <a:r>
              <a:rPr lang="en-US" sz="1600" dirty="0"/>
              <a:t>(x</a:t>
            </a:r>
            <a:r>
              <a:rPr lang="en-US" sz="1600" baseline="-25000" dirty="0"/>
              <a:t>2</a:t>
            </a:r>
            <a:r>
              <a:rPr lang="en-US" sz="1600" dirty="0"/>
              <a:t>, y</a:t>
            </a:r>
            <a:r>
              <a:rPr lang="en-US" sz="1600" baseline="-25000" dirty="0"/>
              <a:t>2</a:t>
            </a:r>
            <a:r>
              <a:rPr lang="en-US" sz="1600" dirty="0"/>
              <a:t>-F(x</a:t>
            </a:r>
            <a:r>
              <a:rPr lang="en-US" sz="1600" baseline="-25000" dirty="0"/>
              <a:t>2</a:t>
            </a:r>
            <a:r>
              <a:rPr lang="en-US" sz="1600" dirty="0"/>
              <a:t>)) … </a:t>
            </a:r>
            <a:r>
              <a:rPr lang="en-US" sz="1400" dirty="0"/>
              <a:t>(</a:t>
            </a:r>
            <a:r>
              <a:rPr lang="en-US" sz="1400" dirty="0" err="1"/>
              <a:t>x</a:t>
            </a:r>
            <a:r>
              <a:rPr lang="en-US" sz="1400" baseline="-25000" dirty="0" err="1"/>
              <a:t>n</a:t>
            </a:r>
            <a:r>
              <a:rPr lang="en-US" sz="1400" dirty="0"/>
              <a:t>, </a:t>
            </a:r>
            <a:r>
              <a:rPr lang="en-US" sz="1400" dirty="0" err="1"/>
              <a:t>y</a:t>
            </a:r>
            <a:r>
              <a:rPr lang="en-US" sz="1400" baseline="-25000" dirty="0" err="1"/>
              <a:t>n</a:t>
            </a:r>
            <a:r>
              <a:rPr lang="en-US" sz="1400" dirty="0"/>
              <a:t>-F(</a:t>
            </a:r>
            <a:r>
              <a:rPr lang="en-US" sz="1400" dirty="0" err="1"/>
              <a:t>x</a:t>
            </a:r>
            <a:r>
              <a:rPr lang="en-US" sz="1400" baseline="-25000" dirty="0" err="1"/>
              <a:t>n</a:t>
            </a:r>
            <a:r>
              <a:rPr lang="en-US" sz="1400" dirty="0"/>
              <a:t>))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The role of model </a:t>
            </a:r>
            <a:r>
              <a:rPr lang="en-US" sz="1800" i="1" dirty="0"/>
              <a:t>G(x)</a:t>
            </a:r>
            <a:r>
              <a:rPr lang="en-US" sz="1800" dirty="0"/>
              <a:t> is to compensate for the shortcomings of </a:t>
            </a:r>
            <a:r>
              <a:rPr lang="en-US" sz="1800" i="1" dirty="0"/>
              <a:t>F(x)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If our combined model is still not good, we can add another </a:t>
            </a:r>
            <a:r>
              <a:rPr lang="en-US" sz="1800" i="1" dirty="0"/>
              <a:t>H(x)</a:t>
            </a:r>
            <a:endParaRPr lang="en-US" sz="1800" dirty="0"/>
          </a:p>
          <a:p>
            <a:pPr>
              <a:spcAft>
                <a:spcPts val="400"/>
              </a:spcAft>
            </a:pPr>
            <a:endParaRPr lang="en-US" sz="1400" i="1" dirty="0"/>
          </a:p>
          <a:p>
            <a:pPr>
              <a:spcAft>
                <a:spcPts val="400"/>
              </a:spcAft>
            </a:pPr>
            <a:endParaRPr lang="en-US" sz="1600" i="1" dirty="0"/>
          </a:p>
          <a:p>
            <a:pPr lvl="1">
              <a:spcAft>
                <a:spcPts val="400"/>
              </a:spcAft>
            </a:pPr>
            <a:endParaRPr lang="en-US" sz="1600" i="1" dirty="0"/>
          </a:p>
          <a:p>
            <a:pPr>
              <a:spcAft>
                <a:spcPts val="40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974810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EEC2B-AAC1-544F-8704-BB2B6EAD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Thought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6AB13-4367-8D4F-A910-ED4BCD140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892413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Our new model is now </a:t>
            </a:r>
            <a:r>
              <a:rPr lang="en-US" sz="1800" i="1" dirty="0"/>
              <a:t>F(x)</a:t>
            </a:r>
            <a:r>
              <a:rPr lang="en-US" sz="1800" dirty="0"/>
              <a:t> + </a:t>
            </a:r>
            <a:r>
              <a:rPr lang="en-US" sz="1800" i="1" dirty="0"/>
              <a:t>G(x)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If our combined model is still not satisfactory, we can add another </a:t>
            </a:r>
            <a:r>
              <a:rPr lang="en-US" sz="1800" i="1" dirty="0"/>
              <a:t>H(x)</a:t>
            </a:r>
          </a:p>
          <a:p>
            <a:pPr lvl="1">
              <a:spcAft>
                <a:spcPts val="400"/>
              </a:spcAft>
            </a:pPr>
            <a:r>
              <a:rPr lang="en-US" sz="1600" i="1" dirty="0"/>
              <a:t>H(x) </a:t>
            </a:r>
            <a:r>
              <a:rPr lang="en-US" sz="1600" dirty="0"/>
              <a:t>will attempt to model the residuals of </a:t>
            </a:r>
            <a:r>
              <a:rPr lang="en-US" sz="1600" i="1" dirty="0"/>
              <a:t>F(x)</a:t>
            </a:r>
            <a:r>
              <a:rPr lang="en-US" sz="1600" dirty="0"/>
              <a:t> + </a:t>
            </a:r>
            <a:r>
              <a:rPr lang="en-US" sz="1600" i="1" dirty="0"/>
              <a:t>G(x) --&gt; y - (F(x)</a:t>
            </a:r>
            <a:r>
              <a:rPr lang="en-US" sz="1600" dirty="0"/>
              <a:t> + </a:t>
            </a:r>
            <a:r>
              <a:rPr lang="en-US" sz="1600" i="1" dirty="0"/>
              <a:t>G(x) )</a:t>
            </a:r>
          </a:p>
          <a:p>
            <a:pPr lvl="1">
              <a:spcAft>
                <a:spcPts val="400"/>
              </a:spcAft>
            </a:pPr>
            <a:endParaRPr lang="en-US" sz="1600" i="1" dirty="0"/>
          </a:p>
          <a:p>
            <a:pPr>
              <a:spcAft>
                <a:spcPts val="400"/>
              </a:spcAft>
            </a:pPr>
            <a:r>
              <a:rPr lang="en-US" sz="2000" dirty="0"/>
              <a:t>This is actually very similar to gradient descent:</a:t>
            </a:r>
            <a:endParaRPr lang="en-US" sz="1600" i="1" dirty="0"/>
          </a:p>
          <a:p>
            <a:pPr lvl="1">
              <a:spcAft>
                <a:spcPts val="400"/>
              </a:spcAft>
            </a:pPr>
            <a:endParaRPr lang="en-US" sz="1600" i="1" dirty="0"/>
          </a:p>
          <a:p>
            <a:pPr>
              <a:spcAft>
                <a:spcPts val="400"/>
              </a:spcAft>
            </a:pP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AFB77D-070A-ED4E-9D33-0257C4261E5A}"/>
                  </a:ext>
                </a:extLst>
              </p:cNvPr>
              <p:cNvSpPr txBox="1"/>
              <p:nvPr/>
            </p:nvSpPr>
            <p:spPr>
              <a:xfrm>
                <a:off x="1158766" y="3218366"/>
                <a:ext cx="21067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AFB77D-070A-ED4E-9D33-0257C4261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766" y="3218366"/>
                <a:ext cx="2106731" cy="276999"/>
              </a:xfrm>
              <a:prstGeom prst="rect">
                <a:avLst/>
              </a:prstGeom>
              <a:blipFill>
                <a:blip r:embed="rId2"/>
                <a:stretch>
                  <a:fillRect l="-179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3F66E8-C3E5-BA43-A16A-E73AA7774561}"/>
                  </a:ext>
                </a:extLst>
              </p:cNvPr>
              <p:cNvSpPr txBox="1"/>
              <p:nvPr/>
            </p:nvSpPr>
            <p:spPr>
              <a:xfrm>
                <a:off x="1158766" y="3655308"/>
                <a:ext cx="2702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3F66E8-C3E5-BA43-A16A-E73AA7774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766" y="3655308"/>
                <a:ext cx="2702728" cy="276999"/>
              </a:xfrm>
              <a:prstGeom prst="rect">
                <a:avLst/>
              </a:prstGeom>
              <a:blipFill>
                <a:blip r:embed="rId3"/>
                <a:stretch>
                  <a:fillRect l="-1408" r="-2817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3A950C-8AED-9F41-BC0E-70299F3C4195}"/>
                  </a:ext>
                </a:extLst>
              </p:cNvPr>
              <p:cNvSpPr txBox="1"/>
              <p:nvPr/>
            </p:nvSpPr>
            <p:spPr>
              <a:xfrm>
                <a:off x="1158766" y="4059843"/>
                <a:ext cx="2628989" cy="575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−1∗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3A950C-8AED-9F41-BC0E-70299F3C4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766" y="4059843"/>
                <a:ext cx="2628989" cy="575094"/>
              </a:xfrm>
              <a:prstGeom prst="rect">
                <a:avLst/>
              </a:prstGeom>
              <a:blipFill>
                <a:blip r:embed="rId4"/>
                <a:stretch>
                  <a:fillRect l="-1442" t="-4348" r="-2404"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A47EAE-EA0D-8349-8CCD-6DF57B288A44}"/>
                  </a:ext>
                </a:extLst>
              </p:cNvPr>
              <p:cNvSpPr txBox="1"/>
              <p:nvPr/>
            </p:nvSpPr>
            <p:spPr>
              <a:xfrm>
                <a:off x="5048997" y="4109024"/>
                <a:ext cx="1898148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A47EAE-EA0D-8349-8CCD-6DF57B288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997" y="4109024"/>
                <a:ext cx="1898148" cy="525913"/>
              </a:xfrm>
              <a:prstGeom prst="rect">
                <a:avLst/>
              </a:prstGeom>
              <a:blipFill>
                <a:blip r:embed="rId5"/>
                <a:stretch>
                  <a:fillRect l="-1987" t="-4762" r="-331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-Right Arrow 7">
            <a:extLst>
              <a:ext uri="{FF2B5EF4-FFF2-40B4-BE49-F238E27FC236}">
                <a16:creationId xmlns:a16="http://schemas.microsoft.com/office/drawing/2014/main" id="{4B4B9912-B4C5-BF46-861E-112765231207}"/>
              </a:ext>
            </a:extLst>
          </p:cNvPr>
          <p:cNvSpPr/>
          <p:nvPr/>
        </p:nvSpPr>
        <p:spPr>
          <a:xfrm>
            <a:off x="3968880" y="4170027"/>
            <a:ext cx="772510" cy="354724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320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DF601-6352-114F-B4B6-5E8E018C8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210635-D888-EA4C-81D9-C9EBA3C681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1800" dirty="0"/>
                  <a:t>We begin by fitting a weak learner on the data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sz="1600" dirty="0"/>
                  <a:t>Usually a single shallow regression tree</a:t>
                </a:r>
              </a:p>
              <a:p>
                <a:pPr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1800" dirty="0"/>
                  <a:t>We use our loss function to calculate the loss of the learner</a:t>
                </a:r>
              </a:p>
              <a:p>
                <a:pPr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1800" dirty="0"/>
                  <a:t>We then add more regression trees one at a time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sz="1600" dirty="0"/>
                  <a:t>Each added tree seeks to compensate for the error from the previous trees by predicting the residuals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/>
                  <a:t> (gradient of loss function </a:t>
                </a:r>
                <a:r>
                  <a:rPr lang="en-US" sz="1600" dirty="0" err="1"/>
                  <a:t>wrt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600" dirty="0"/>
                  <a:t>)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sz="1600" dirty="0"/>
                  <a:t>The predictions from each tree are added together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sz="1600" dirty="0"/>
                  <a:t>In this way we minimize the residuals / gradient of the loss function</a:t>
                </a:r>
              </a:p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1800" dirty="0"/>
                  <a:t>We then use our ensemble by adding the predictions of each member together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210635-D888-EA4C-81D9-C9EBA3C681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6" t="-1984" b="-15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74571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A699-C80A-F840-833B-4C26F251D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31F7C-1CC5-E44C-A979-05F0AD4CC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Gradient boosting also works for classification by modeling the probabilities of each class and adding models to compensate for errors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Gradient boosting can quickly overfit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Methods to reduce overfitting: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Constrain the depth of each tree in the ensemble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Multiply the predictions of subsequent trees by a “learning rate” to reduce the influence of each tree and allow for more trees to be added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Use subsampling from rows and columns for each tree rather than the entire dataset (“stochastic gradient boosting”)</a:t>
            </a:r>
          </a:p>
        </p:txBody>
      </p:sp>
    </p:spTree>
    <p:extLst>
      <p:ext uri="{BB962C8B-B14F-4D97-AF65-F5344CB8AC3E}">
        <p14:creationId xmlns:p14="http://schemas.microsoft.com/office/powerpoint/2010/main" val="32362209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7F6C-04A8-6E40-ACDA-B243549C9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068552"/>
            <a:ext cx="7772400" cy="1021556"/>
          </a:xfrm>
        </p:spPr>
        <p:txBody>
          <a:bodyPr/>
          <a:lstStyle/>
          <a:p>
            <a:pPr algn="ctr"/>
            <a:r>
              <a:rPr lang="en-US" dirty="0"/>
              <a:t>Boosting Demo</a:t>
            </a:r>
          </a:p>
        </p:txBody>
      </p:sp>
    </p:spTree>
    <p:extLst>
      <p:ext uri="{BB962C8B-B14F-4D97-AF65-F5344CB8AC3E}">
        <p14:creationId xmlns:p14="http://schemas.microsoft.com/office/powerpoint/2010/main" val="20497748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24FE8-C5D4-494E-B3EA-FBF62F42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Boosting vs. Bagging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030049-C9BF-4A45-93F2-BA58722B9441}"/>
              </a:ext>
            </a:extLst>
          </p:cNvPr>
          <p:cNvGraphicFramePr>
            <a:graphicFrameLocks noGrp="1"/>
          </p:cNvGraphicFramePr>
          <p:nvPr/>
        </p:nvGraphicFramePr>
        <p:xfrm>
          <a:off x="762229" y="1209669"/>
          <a:ext cx="7619541" cy="365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284">
                  <a:extLst>
                    <a:ext uri="{9D8B030D-6E8A-4147-A177-3AD203B41FA5}">
                      <a16:colId xmlns:a16="http://schemas.microsoft.com/office/drawing/2014/main" val="3168502736"/>
                    </a:ext>
                  </a:extLst>
                </a:gridCol>
                <a:gridCol w="2544417">
                  <a:extLst>
                    <a:ext uri="{9D8B030D-6E8A-4147-A177-3AD203B41FA5}">
                      <a16:colId xmlns:a16="http://schemas.microsoft.com/office/drawing/2014/main" val="3569236841"/>
                    </a:ext>
                  </a:extLst>
                </a:gridCol>
                <a:gridCol w="2709840">
                  <a:extLst>
                    <a:ext uri="{9D8B030D-6E8A-4147-A177-3AD203B41FA5}">
                      <a16:colId xmlns:a16="http://schemas.microsoft.com/office/drawing/2014/main" val="902000629"/>
                    </a:ext>
                  </a:extLst>
                </a:gridCol>
              </a:tblGrid>
              <a:tr h="43464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Boosting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628940"/>
                  </a:ext>
                </a:extLst>
              </a:tr>
              <a:tr h="559150">
                <a:tc>
                  <a:txBody>
                    <a:bodyPr/>
                    <a:lstStyle/>
                    <a:p>
                      <a:r>
                        <a:rPr lang="en-US" sz="1600" b="1" dirty="0"/>
                        <a:t>Sampling method for each weak learner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Random subset with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Uses full training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40903"/>
                  </a:ext>
                </a:extLst>
              </a:tr>
              <a:tr h="559150">
                <a:tc>
                  <a:txBody>
                    <a:bodyPr/>
                    <a:lstStyle/>
                    <a:p>
                      <a:r>
                        <a:rPr lang="en-US" sz="1600" b="1" dirty="0"/>
                        <a:t>Relationship between weak learners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Close to independent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Models learn from mistakes of previous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898709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Ensembling</a:t>
                      </a:r>
                      <a:r>
                        <a:rPr lang="en-US" sz="1600" b="1" dirty="0"/>
                        <a:t>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Simple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Weighted average or </a:t>
                      </a:r>
                      <a:r>
                        <a:rPr lang="en-US" sz="1600"/>
                        <a:t>additive combination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30033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r>
                        <a:rPr lang="en-US" sz="1600" b="1" dirty="0"/>
                        <a:t>Training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 (easy to parallelize)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Low (trained in series)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106183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r>
                        <a:rPr lang="en-US" sz="1600" b="1" dirty="0"/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Usually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Sometimes better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0382"/>
                  </a:ext>
                </a:extLst>
              </a:tr>
              <a:tr h="493311">
                <a:tc>
                  <a:txBody>
                    <a:bodyPr/>
                    <a:lstStyle/>
                    <a:p>
                      <a:r>
                        <a:rPr lang="en-US" sz="1600" b="1" dirty="0"/>
                        <a:t>Likelihood to overfit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007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9055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ECF4A-78E8-E14F-99A3-22930E1A2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Ensembles –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5D3BE-E223-3B44-836B-BE0818D54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Ensembled models can be very powerful, and are commonly used in the real world as well as in ML competitions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Bagging and boosting are two of the most common </a:t>
            </a:r>
            <a:r>
              <a:rPr lang="en-US" sz="1800" dirty="0" err="1"/>
              <a:t>ensembling</a:t>
            </a:r>
            <a:r>
              <a:rPr lang="en-US" sz="1800" dirty="0"/>
              <a:t> techniques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However, </a:t>
            </a:r>
            <a:r>
              <a:rPr lang="en-US" sz="1800" dirty="0" err="1"/>
              <a:t>ensembling</a:t>
            </a:r>
            <a:r>
              <a:rPr lang="en-US" sz="1800" dirty="0"/>
              <a:t> increases the computational complexity relative to individual models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We must decide if the increased computational costs are worth the improvement in performance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90576666"/>
      </p:ext>
    </p:extLst>
  </p:cSld>
  <p:clrMapOvr>
    <a:masterClrMapping/>
  </p:clrMapOvr>
</p:sld>
</file>

<file path=ppt/theme/theme1.xml><?xml version="1.0" encoding="utf-8"?>
<a:theme xmlns:a="http://schemas.openxmlformats.org/drawingml/2006/main" name="pratt-template-aerial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att-template-photo-2019  -  Compatibility Mode" id="{D42B5714-30A2-CD4D-AF08-507A411B0D58}" vid="{297FEE61-2E36-AA47-ADC1-104B8049EC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100926</TotalTime>
  <Words>2614</Words>
  <Application>Microsoft Macintosh PowerPoint</Application>
  <PresentationFormat>On-screen Show (16:9)</PresentationFormat>
  <Paragraphs>404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Aptos Narrow</vt:lpstr>
      <vt:lpstr>Arial</vt:lpstr>
      <vt:lpstr>Open Sans</vt:lpstr>
      <vt:lpstr>Cambria Math</vt:lpstr>
      <vt:lpstr>Calibri</vt:lpstr>
      <vt:lpstr>pratt-template-aerial-wide</vt:lpstr>
      <vt:lpstr>Ensemble Models</vt:lpstr>
      <vt:lpstr>classwise.org/student/quiz/cba24c75-0686-435b-993c-ff6782542b56 </vt:lpstr>
      <vt:lpstr>Project 2</vt:lpstr>
      <vt:lpstr>Challenges in Pharma R&amp;D</vt:lpstr>
      <vt:lpstr>Clinical Trial Outcome Prediction</vt:lpstr>
      <vt:lpstr>Clinical Trial Outcome Prediction</vt:lpstr>
      <vt:lpstr>Project Scope</vt:lpstr>
      <vt:lpstr>Deliverables</vt:lpstr>
      <vt:lpstr>Teams</vt:lpstr>
      <vt:lpstr>Decision Trees for Classification</vt:lpstr>
      <vt:lpstr>Decision Trees</vt:lpstr>
      <vt:lpstr>How to choose the splits</vt:lpstr>
      <vt:lpstr>Measures of impurity</vt:lpstr>
      <vt:lpstr>Calculating IG using Gini</vt:lpstr>
      <vt:lpstr>Getting predictions from the tree</vt:lpstr>
      <vt:lpstr>Tree depth</vt:lpstr>
      <vt:lpstr>Visualizing a decision tree</vt:lpstr>
      <vt:lpstr>Regression trees</vt:lpstr>
      <vt:lpstr>Benefits &amp; challenges of trees</vt:lpstr>
      <vt:lpstr>Decision tree Demo</vt:lpstr>
      <vt:lpstr>Ensembling</vt:lpstr>
      <vt:lpstr>Ensembling</vt:lpstr>
      <vt:lpstr>Ensembling</vt:lpstr>
      <vt:lpstr>PowerPoint Presentation</vt:lpstr>
      <vt:lpstr>$1M Netflix Prize</vt:lpstr>
      <vt:lpstr>Challenges of ensemble models</vt:lpstr>
      <vt:lpstr>Random Forest</vt:lpstr>
      <vt:lpstr>Bootstrap aggregating (bagging)</vt:lpstr>
      <vt:lpstr>From tree to random forest</vt:lpstr>
      <vt:lpstr>RF hyperparameters</vt:lpstr>
      <vt:lpstr>Feature selection using RF</vt:lpstr>
      <vt:lpstr>Feature Importance</vt:lpstr>
      <vt:lpstr>Random Forest Demo</vt:lpstr>
      <vt:lpstr>Boosting</vt:lpstr>
      <vt:lpstr>What is boosting?</vt:lpstr>
      <vt:lpstr>Decision Stumps</vt:lpstr>
      <vt:lpstr>Decision Stumps</vt:lpstr>
      <vt:lpstr>Decision Stumps</vt:lpstr>
      <vt:lpstr>Decision Stumps</vt:lpstr>
      <vt:lpstr>AdaBoost</vt:lpstr>
      <vt:lpstr>AdaBoost algorithm</vt:lpstr>
      <vt:lpstr>AdaBoost in Scikit Learn</vt:lpstr>
      <vt:lpstr>Gradient Boosting</vt:lpstr>
      <vt:lpstr>Thought exercise</vt:lpstr>
      <vt:lpstr>Thought exercise</vt:lpstr>
      <vt:lpstr>Thought exercise</vt:lpstr>
      <vt:lpstr>Gradient Boosting</vt:lpstr>
      <vt:lpstr>Gradient boosting</vt:lpstr>
      <vt:lpstr>Boosting Demo</vt:lpstr>
      <vt:lpstr>Boosting vs. Bagging</vt:lpstr>
      <vt:lpstr>Ensembles –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Sourcing Data for Analytics: Introduction  Week 1    </dc:title>
  <dc:creator>Jon Reifschneider</dc:creator>
  <cp:lastModifiedBy>Jon Reifschneider</cp:lastModifiedBy>
  <cp:revision>820</cp:revision>
  <cp:lastPrinted>2021-03-04T22:07:54Z</cp:lastPrinted>
  <dcterms:created xsi:type="dcterms:W3CDTF">2020-08-17T17:32:42Z</dcterms:created>
  <dcterms:modified xsi:type="dcterms:W3CDTF">2025-10-29T12:49:32Z</dcterms:modified>
</cp:coreProperties>
</file>